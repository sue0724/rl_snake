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20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各位老师、同学好。我们在自建贪吃蛇环境中实现三种</a:t>
            </a:r>
            <a:r>
              <a:rPr lang="en-US" altLang="zh-CN"/>
              <a:t>DQN</a:t>
            </a:r>
            <a:r>
              <a:rPr lang="zh-CN" altLang="en-US"/>
              <a:t>算法，研究哪些状态、奖励和探索设计能让智能体吃到更多食物。下面先介绍环境，再介绍算法和实验结果。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ppt.md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40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棋盘是十乘十，初始蛇长三，智能体每步选择直行、左转或右转。基础奖励只在吃到食物或死亡时出现，因此反馈稀疏。随着蛇身增长，可走空间也在变化，这要求考虑长期后果。所有算法共用环境。碰撞或满盘是真终止，达到五百步只是截断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完整游戏状态可以描述</a:t>
            </a:r>
            <a:r>
              <a:rPr lang="en-US" altLang="zh-CN"/>
              <a:t>MDP</a:t>
            </a:r>
            <a:r>
              <a:rPr lang="zh-CN" altLang="en-US"/>
              <a:t>，但人工压缩观测不保证完整马尔可夫性。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docs/INTERFACE.md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V1</a:t>
            </a:r>
            <a:r>
              <a:rPr lang="zh-CN" altLang="en-US"/>
              <a:t>把棋盘压缩成十一维，分别描述三个相对动作的危险、四个朝向和四个食物方位。</a:t>
            </a:r>
            <a:r>
              <a:rPr lang="en-US" altLang="zh-CN"/>
              <a:t>V2</a:t>
            </a:r>
            <a:r>
              <a:rPr lang="zh-CN" altLang="en-US"/>
              <a:t>保留原特征，再加一个归一化曼哈顿距离和八个相对邻域障碍特征。图中浅绿色标出局部邻域。食物方位不互斥，斜向可以同时激活两项。环境还统一处理旧尾格，因为尾巴当步会移走。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A</a:t>
            </a:r>
            <a:r>
              <a:rPr lang="zh-CN" altLang="en-US"/>
              <a:t>负责环境和</a:t>
            </a:r>
            <a:r>
              <a:rPr lang="en-US" altLang="zh-CN"/>
              <a:t>V1</a:t>
            </a:r>
            <a:r>
              <a:rPr lang="zh-CN" altLang="en-US"/>
              <a:t>基础，</a:t>
            </a:r>
            <a:r>
              <a:rPr lang="en-US" altLang="zh-CN"/>
              <a:t>D</a:t>
            </a:r>
            <a:r>
              <a:rPr lang="zh-CN" altLang="en-US"/>
              <a:t>后续完成</a:t>
            </a:r>
            <a:r>
              <a:rPr lang="en-US" altLang="zh-CN"/>
              <a:t>V2</a:t>
            </a:r>
            <a:r>
              <a:rPr lang="zh-CN" altLang="en-US"/>
              <a:t>及尾格占用集合更新修复；此处只解释设计，第</a:t>
            </a:r>
            <a:r>
              <a:rPr lang="en-US" altLang="zh-CN"/>
              <a:t>8</a:t>
            </a:r>
            <a:r>
              <a:rPr lang="zh-CN" altLang="en-US"/>
              <a:t>页报告效果。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docs/INTERFACE.md</a:t>
            </a:r>
            <a:r>
              <a:rPr lang="zh-CN" altLang="en-US"/>
              <a:t>；</a:t>
            </a:r>
            <a:r>
              <a:rPr lang="en-US" altLang="zh-CN"/>
              <a:t>docs/STATE_EXPERIMENT.md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B
</a:t>
            </a:r>
            <a:r>
              <a:rPr lang="zh-CN" altLang="en-US"/>
              <a:t>建议时长：</a:t>
            </a:r>
            <a:r>
              <a:rPr lang="en-US" altLang="zh-CN"/>
              <a:t>55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DQN</a:t>
            </a:r>
            <a:r>
              <a:rPr lang="zh-CN" altLang="en-US"/>
              <a:t>估计的是动作的长期价值，目标包含即时奖励和下一状态折扣价值。环境经历先写入回放池，再随机采样小批次更新在线网络，目标网络提供下一状态估值。只有真正终止才移除未来项，截断仍然</a:t>
            </a:r>
            <a:r>
              <a:rPr lang="en-US" altLang="zh-CN"/>
              <a:t>bootstrap</a:t>
            </a:r>
            <a:r>
              <a:rPr lang="zh-CN" altLang="en-US"/>
              <a:t>。探索用</a:t>
            </a:r>
            <a:r>
              <a:rPr lang="en-US" altLang="zh-CN"/>
              <a:t>epsilon-greedy</a:t>
            </a:r>
            <a:r>
              <a:rPr lang="zh-CN" altLang="en-US"/>
              <a:t>。我们让三算法共享训练、评估和模型恢复流程，避免复制三套代码带来额外差异。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目标网络每</a:t>
            </a:r>
            <a:r>
              <a:rPr lang="en-US" altLang="zh-CN"/>
              <a:t>1000</a:t>
            </a:r>
            <a:r>
              <a:rPr lang="zh-CN" altLang="en-US"/>
              <a:t>次成功梯度更新同步，不按环境步计数。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algorithms/dqn.py</a:t>
            </a:r>
            <a:r>
              <a:rPr lang="zh-CN" altLang="en-US"/>
              <a:t>；</a:t>
            </a:r>
            <a:r>
              <a:rPr lang="en-US" altLang="zh-CN"/>
              <a:t>train.py</a:t>
            </a:r>
            <a:r>
              <a:rPr lang="zh-CN" altLang="en-US"/>
              <a:t>；</a:t>
            </a:r>
            <a:r>
              <a:rPr lang="en-US" altLang="zh-CN"/>
              <a:t>evaluate.py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B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正式对照通常每个条件训练三个种子，每个模型十万环境步。网络使用两层一百二十八维隐藏层，学习率千分之一。各模型再用共同环境种子独立评估五十局，关闭探索和学习。主指标是食物数，误差是模型均分之间的总体标准差。五十局不能当成五十个训练种子。最后冻结配置，再扩展到五个训练种子和全新测试集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开发环境种子</a:t>
            </a:r>
            <a:r>
              <a:rPr lang="en-US" altLang="zh-CN"/>
              <a:t>10000–10049</a:t>
            </a:r>
            <a:r>
              <a:rPr lang="zh-CN" altLang="en-US"/>
              <a:t>，算法复核</a:t>
            </a:r>
            <a:r>
              <a:rPr lang="en-US" altLang="zh-CN"/>
              <a:t>20000–20049</a:t>
            </a:r>
            <a:r>
              <a:rPr lang="zh-CN" altLang="en-US"/>
              <a:t>，最终测试</a:t>
            </a:r>
            <a:r>
              <a:rPr lang="en-US" altLang="zh-CN"/>
              <a:t>30000–30049</a:t>
            </a:r>
            <a:r>
              <a:rPr lang="zh-CN" altLang="en-US"/>
              <a:t>。最终训练种子</a:t>
            </a:r>
            <a:r>
              <a:rPr lang="en-US" altLang="zh-CN"/>
              <a:t>42–46</a:t>
            </a:r>
            <a:r>
              <a:rPr lang="zh-CN" altLang="en-US"/>
              <a:t>。</a:t>
            </a:r>
            <a:r>
              <a:rPr lang="en-US" altLang="zh-CN"/>
              <a:t>SD</a:t>
            </a:r>
            <a:r>
              <a:rPr lang="zh-CN" altLang="en-US"/>
              <a:t>采用</a:t>
            </a:r>
            <a:r>
              <a:rPr lang="en-US" altLang="zh-CN"/>
              <a:t>ddof=0</a:t>
            </a:r>
            <a:r>
              <a:rPr lang="zh-CN" altLang="en-US"/>
              <a:t>，不是置信区间。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docs/EXPERIMENT_PROTOCOL.md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C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标准</a:t>
            </a:r>
            <a:r>
              <a:rPr lang="en-US" altLang="zh-CN"/>
              <a:t>DQN</a:t>
            </a:r>
            <a:r>
              <a:rPr lang="zh-CN" altLang="en-US"/>
              <a:t>使用目标网络同时选择最大动作并评价该动作。估计有噪声时，</a:t>
            </a:r>
            <a:r>
              <a:rPr lang="en-US" altLang="zh-CN"/>
              <a:t>max</a:t>
            </a:r>
            <a:r>
              <a:rPr lang="zh-CN" altLang="en-US"/>
              <a:t>可能偏向取到高估值。</a:t>
            </a:r>
            <a:r>
              <a:rPr lang="en-US" altLang="zh-CN"/>
              <a:t>Double</a:t>
            </a:r>
            <a:r>
              <a:rPr lang="zh-CN" altLang="en-US"/>
              <a:t>把选择与评价分开：在线网络给出动作，目标网络评价这个动作。其余训练逻辑和终止约定不变，网络参数量不增加。这是缓解高估的设计动机，最终是否提高分数仍需实验判断。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不保证消除全部偏差，本项目未测真实</a:t>
            </a:r>
            <a:r>
              <a:rPr lang="en-US" altLang="zh-CN"/>
              <a:t>Q</a:t>
            </a:r>
            <a:r>
              <a:rPr lang="zh-CN" altLang="en-US"/>
              <a:t>值偏差。</a:t>
            </a:r>
            <a:r>
              <a:rPr lang="en-US" altLang="zh-CN"/>
              <a:t>Double</a:t>
            </a:r>
            <a:r>
              <a:rPr lang="zh-CN" altLang="en-US"/>
              <a:t>多一次下一状态的</a:t>
            </a:r>
            <a:r>
              <a:rPr lang="en-US" altLang="zh-CN"/>
              <a:t>Online</a:t>
            </a:r>
            <a:r>
              <a:rPr lang="zh-CN" altLang="en-US"/>
              <a:t>前向，不能说计算量完全不变。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algorithms/double_dqn.py</a:t>
            </a:r>
            <a:r>
              <a:rPr lang="zh-CN" altLang="en-US"/>
              <a:t>；</a:t>
            </a:r>
            <a:r>
              <a:rPr lang="en-US" altLang="zh-CN"/>
              <a:t>tests/test_double_dqn.py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C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Dueling</a:t>
            </a:r>
            <a:r>
              <a:rPr lang="zh-CN" altLang="en-US"/>
              <a:t>改变的是网络结构。共享层提取特征后，一路输出状态价值，一路输出三个动作的相对优势，再减去优势均值合成为</a:t>
            </a:r>
            <a:r>
              <a:rPr lang="en-US" altLang="zh-CN"/>
              <a:t>Q</a:t>
            </a:r>
            <a:r>
              <a:rPr lang="zh-CN" altLang="en-US"/>
              <a:t>值。减均值约束两部分的分解。输出仍是三个动作价值，所以公共训练评估接口保持一致。本项目这个版本沿用标准</a:t>
            </a:r>
            <a:r>
              <a:rPr lang="en-US" altLang="zh-CN"/>
              <a:t>DQN</a:t>
            </a:r>
            <a:r>
              <a:rPr lang="zh-CN" altLang="en-US"/>
              <a:t>目标，并不是</a:t>
            </a:r>
            <a:r>
              <a:rPr lang="en-US" altLang="zh-CN"/>
              <a:t>Double</a:t>
            </a:r>
            <a:r>
              <a:rPr lang="zh-CN" altLang="en-US"/>
              <a:t>和</a:t>
            </a:r>
            <a:r>
              <a:rPr lang="en-US" altLang="zh-CN"/>
              <a:t>Dueling</a:t>
            </a:r>
            <a:r>
              <a:rPr lang="zh-CN" altLang="en-US"/>
              <a:t>的组合。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价值分解是表征设计，不等于已经证明更稳定或更高效。两种算法都做过数值和训练保存恢复验证。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algorithms/dueling_dqn.py</a:t>
            </a:r>
            <a:r>
              <a:rPr lang="zh-CN" altLang="en-US"/>
              <a:t>；</a:t>
            </a:r>
            <a:r>
              <a:rPr lang="en-US" altLang="zh-CN"/>
              <a:t>algorithms/networks.py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当前环境重新训练后，</a:t>
            </a:r>
            <a:r>
              <a:rPr lang="en-US" altLang="zh-CN"/>
              <a:t>V1</a:t>
            </a:r>
            <a:r>
              <a:rPr lang="zh-CN" altLang="en-US"/>
              <a:t>平均得分十九点一七，</a:t>
            </a:r>
            <a:r>
              <a:rPr lang="en-US" altLang="zh-CN"/>
              <a:t>V2</a:t>
            </a:r>
            <a:r>
              <a:rPr lang="zh-CN" altLang="en-US"/>
              <a:t>二十二点一九，提升约百分之十五点七。三个配对训练种子均提高。但波动没有降低，单位步数食物数也没提高。因此主要贡献是每局获得更多食物，不能理解成全面改善。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两组同一尾格修复环境。</a:t>
            </a:r>
            <a:r>
              <a:rPr lang="en-US" altLang="zh-CN"/>
              <a:t>V2</a:t>
            </a:r>
            <a:r>
              <a:rPr lang="zh-CN" altLang="en-US"/>
              <a:t>同时新增距离和八邻域特征，增加</a:t>
            </a:r>
            <a:r>
              <a:rPr lang="en-US" altLang="zh-CN"/>
              <a:t>1152</a:t>
            </a:r>
            <a:r>
              <a:rPr lang="zh-CN" altLang="en-US"/>
              <a:t>参数，未拆分各自贡献。比例用未四舍五入均值计算。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docs/STATE_EXPERIMENT.md</a:t>
            </a:r>
            <a:r>
              <a:rPr lang="zh-CN" altLang="en-US"/>
              <a:t>；</a:t>
            </a:r>
            <a:r>
              <a:rPr lang="en-US" altLang="zh-CN"/>
              <a:t>results/state_experiments/state_v1_v2_20261018_134610_974148_b458c91f/comparison.json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60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我实现了距离塑形和额外步惩罚，希望更密集的反馈帮助学习。但三个种子结果中，两种塑形均分都低于</a:t>
            </a:r>
            <a:r>
              <a:rPr lang="en-US" altLang="zh-CN"/>
              <a:t>sparse</a:t>
            </a:r>
            <a:r>
              <a:rPr lang="zh-CN" altLang="en-US"/>
              <a:t>。加步惩罚组的</a:t>
            </a:r>
            <a:r>
              <a:rPr lang="en-US" altLang="zh-CN"/>
              <a:t>Return</a:t>
            </a:r>
            <a:r>
              <a:rPr lang="zh-CN" altLang="en-US"/>
              <a:t>为二百一十六点一六，比</a:t>
            </a:r>
            <a:r>
              <a:rPr lang="en-US" altLang="zh-CN"/>
              <a:t>sparse</a:t>
            </a:r>
            <a:r>
              <a:rPr lang="zh-CN" altLang="en-US"/>
              <a:t>的二百一十一点八七更高，却吃得更少。这是因为奖励定义已经变化，所以跨奖励应该按</a:t>
            </a:r>
            <a:r>
              <a:rPr lang="en-US" altLang="zh-CN"/>
              <a:t>Score</a:t>
            </a:r>
            <a:r>
              <a:rPr lang="zh-CN" altLang="en-US"/>
              <a:t>比较，不能按回报或最高分选优。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误差棒为跨训练模型均分的总体</a:t>
            </a:r>
            <a:r>
              <a:rPr lang="en-US" altLang="zh-CN"/>
              <a:t>SD</a:t>
            </a:r>
            <a:r>
              <a:rPr lang="zh-CN" altLang="en-US"/>
              <a:t>，</a:t>
            </a:r>
            <a:r>
              <a:rPr lang="en-US" altLang="zh-CN"/>
              <a:t>3 seeds</a:t>
            </a:r>
            <a:r>
              <a:rPr lang="zh-CN" altLang="en-US"/>
              <a:t>，</a:t>
            </a:r>
            <a:r>
              <a:rPr lang="en-US" altLang="zh-CN"/>
              <a:t>ddof=0</a:t>
            </a:r>
            <a:r>
              <a:rPr lang="zh-CN" altLang="en-US"/>
              <a:t>。距离比较同一个旧食物，碰撞时距离项为</a:t>
            </a:r>
            <a:r>
              <a:rPr lang="en-US" altLang="zh-CN"/>
              <a:t>0</a:t>
            </a:r>
            <a:r>
              <a:rPr lang="zh-CN" altLang="en-US"/>
              <a:t>；步惩罚含终止截断动作。启发式塑形，无策略不变保证。负结果只针对本次固定系数。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docs/REWARD_EXPERIMENT.md</a:t>
            </a:r>
            <a:r>
              <a:rPr lang="zh-CN" altLang="en-US"/>
              <a:t>；</a:t>
            </a:r>
            <a:r>
              <a:rPr lang="en-US" altLang="zh-CN"/>
              <a:t>results/reward_experiments/reward_v2_20261018_152348_243907_d0be64a1/comparison.json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接下来只改变</a:t>
            </a:r>
            <a:r>
              <a:rPr lang="en-US" altLang="zh-CN"/>
              <a:t>epsilon</a:t>
            </a:r>
            <a:r>
              <a:rPr lang="zh-CN" altLang="en-US"/>
              <a:t>的衰减速度。快、默认、慢三组最终均分分别为二十一点三九、二十二点一九和十九点九四。默认方案最高，因此保留零点九九九九。快组训练曲线更早上升，却没有成为更好的最终贪心策略。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同一</a:t>
            </a:r>
            <a:r>
              <a:rPr lang="en-US" altLang="zh-CN"/>
              <a:t>epsilon-greedy</a:t>
            </a:r>
            <a:r>
              <a:rPr lang="zh-CN" altLang="en-US"/>
              <a:t>的参数对照，不是三种探索算法。</a:t>
            </a:r>
            <a:r>
              <a:rPr lang="en-US" altLang="zh-CN"/>
              <a:t>3</a:t>
            </a:r>
            <a:r>
              <a:rPr lang="zh-CN" altLang="en-US"/>
              <a:t>训练</a:t>
            </a:r>
            <a:r>
              <a:rPr lang="en-US" altLang="zh-CN"/>
              <a:t>seeds</a:t>
            </a:r>
            <a:r>
              <a:rPr lang="zh-CN" altLang="en-US"/>
              <a:t>，</a:t>
            </a:r>
            <a:r>
              <a:rPr lang="en-US" altLang="zh-CN"/>
              <a:t>SD</a:t>
            </a:r>
            <a:r>
              <a:rPr lang="zh-CN" altLang="en-US"/>
              <a:t>采用</a:t>
            </a:r>
            <a:r>
              <a:rPr lang="en-US" altLang="zh-CN"/>
              <a:t>ddof=0</a:t>
            </a:r>
            <a:r>
              <a:rPr lang="zh-CN" altLang="en-US"/>
              <a:t>。没有证明更快收敛或普遍最优。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docs/EXPLORATION_EXPERIMENT.md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75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共同配置下</a:t>
            </a:r>
            <a:r>
              <a:rPr lang="en-US" altLang="zh-CN"/>
              <a:t>DQN</a:t>
            </a:r>
            <a:r>
              <a:rPr lang="zh-CN" altLang="en-US"/>
              <a:t>开发均分最高，换一组环境种子复核后排名相同，但不是每个训练种子都领先。前序配置围绕</a:t>
            </a:r>
            <a:r>
              <a:rPr lang="en-US" altLang="zh-CN"/>
              <a:t>DQN</a:t>
            </a:r>
            <a:r>
              <a:rPr lang="zh-CN" altLang="en-US"/>
              <a:t>选择，所以这里不能代表各算法分别调参后的上限。最后冻结</a:t>
            </a:r>
            <a:r>
              <a:rPr lang="en-US" altLang="zh-CN"/>
              <a:t>DQN</a:t>
            </a:r>
            <a:r>
              <a:rPr lang="zh-CN" altLang="en-US"/>
              <a:t>、</a:t>
            </a:r>
            <a:r>
              <a:rPr lang="en-US" altLang="zh-CN"/>
              <a:t>V2</a:t>
            </a:r>
            <a:r>
              <a:rPr lang="zh-CN" altLang="en-US"/>
              <a:t>、稀疏奖励和默认探索，扩展到五个训练种子，再用全新测试集确认。最终均分二十点七六、总体标准差二点六四。保留所有种子，也没有按测试最高分换模型，结果仍有明显波动。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上表为</a:t>
            </a:r>
            <a:r>
              <a:rPr lang="en-US" altLang="zh-CN"/>
              <a:t>3</a:t>
            </a:r>
            <a:r>
              <a:rPr lang="zh-CN" altLang="en-US"/>
              <a:t>模型算法对照，下方为</a:t>
            </a:r>
            <a:r>
              <a:rPr lang="en-US" altLang="zh-CN"/>
              <a:t>5</a:t>
            </a:r>
            <a:r>
              <a:rPr lang="zh-CN" altLang="en-US"/>
              <a:t>模型最终确认，不能混算。开发种子</a:t>
            </a:r>
            <a:r>
              <a:rPr lang="en-US" altLang="zh-CN"/>
              <a:t>10000–10049</a:t>
            </a:r>
            <a:r>
              <a:rPr lang="zh-CN" altLang="en-US"/>
              <a:t>，复核</a:t>
            </a:r>
            <a:r>
              <a:rPr lang="en-US" altLang="zh-CN"/>
              <a:t>20000–20049</a:t>
            </a:r>
            <a:r>
              <a:rPr lang="zh-CN" altLang="en-US"/>
              <a:t>，最终</a:t>
            </a:r>
            <a:r>
              <a:rPr lang="en-US" altLang="zh-CN"/>
              <a:t>30000–30049</a:t>
            </a:r>
            <a:r>
              <a:rPr lang="zh-CN" altLang="en-US"/>
              <a:t>。五模型最终均分</a:t>
            </a:r>
            <a:r>
              <a:rPr lang="en-US" altLang="zh-CN"/>
              <a:t>22.78/20.60/16.54/19.66/24.20</a:t>
            </a:r>
            <a:r>
              <a:rPr lang="zh-CN" altLang="en-US"/>
              <a:t>，入口</a:t>
            </a:r>
            <a:r>
              <a:rPr lang="en-US" altLang="zh-CN"/>
              <a:t>seed42</a:t>
            </a:r>
            <a:r>
              <a:rPr lang="zh-CN" altLang="en-US"/>
              <a:t>预先固定。原三模型复用，新增</a:t>
            </a:r>
            <a:r>
              <a:rPr lang="en-US" altLang="zh-CN"/>
              <a:t>45/46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docs/ALGORITHM_EXPERIMENT.md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35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我们完成了统一环境、三种算法，以及状态、奖励、探索对照、交互消融和五种子最终测试。主要性能贡献来自</a:t>
            </a:r>
            <a:r>
              <a:rPr lang="en-US" altLang="zh-CN"/>
              <a:t>V2</a:t>
            </a:r>
            <a:r>
              <a:rPr lang="zh-CN" altLang="en-US"/>
              <a:t>状态表示，而密集奖励和结构改动并不保证提高得分。当前种子和预算仍有限，我们如实保留负结果与限制。谢谢大家。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此版没有真实运行录像，不作现场</a:t>
            </a:r>
            <a:r>
              <a:rPr lang="en-US" altLang="zh-CN"/>
              <a:t>Demo</a:t>
            </a:r>
            <a:r>
              <a:rPr lang="zh-CN" altLang="en-US"/>
              <a:t>承诺。完整消融已完成，主讲不展开六格矩阵。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docs/D_WORK_SUMMARY.md</a:t>
            </a:r>
            <a:r>
              <a:rPr lang="zh-CN" altLang="en-US"/>
              <a:t>；</a:t>
            </a:r>
            <a:r>
              <a:rPr lang="en-US" altLang="zh-CN"/>
              <a:t>docs/STATE_REWARD_ABLATION.md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609600" y="1333500"/>
            <a:ext cx="730250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基于深度强化学习的</a:t>
            </a:r>
            <a:r>
              <a:rPr lang="en-US" altLang="zh-CN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贪吃蛇智能体</a:t>
            </a:r>
            <a:endParaRPr lang="zh-CN" altLang="en-US" sz="36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933700"/>
            <a:ext cx="6985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设计与实验研究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609600" y="3898900"/>
            <a:ext cx="74295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DQN / Double DQN / Dueling DQN</a:t>
            </a:r>
            <a:endParaRPr lang="en-US" altLang="en-US" sz="2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4826000"/>
            <a:ext cx="7112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强化学习课程小组汇报</a:t>
            </a:r>
            <a:endParaRPr lang="zh-CN" altLang="en-US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5384800"/>
            <a:ext cx="7366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9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潘明东、张欣怡、张娄瑞、周欣语</a:t>
            </a:r>
            <a:endParaRPr lang="zh-CN" altLang="en-US" sz="19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5943600"/>
            <a:ext cx="508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820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6741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662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2583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5504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8425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346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4267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7188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09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3820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6741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9662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2583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5504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8425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1346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4267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07188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10109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3820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6741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9662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2583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95504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8425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01346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426700" y="2489200"/>
            <a:ext cx="292100" cy="2921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07188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10109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3820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6741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9662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2583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95504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8425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1346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4267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7188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10109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3820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6741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9662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2583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5504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8425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1346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4267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7188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10109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3820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86741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89662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258300" y="33655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550400" y="33655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842500" y="3365500"/>
            <a:ext cx="292100" cy="2921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1346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4267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07188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10109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3820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86741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89662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258300" y="36576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5504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8425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1346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4267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07188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10109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3820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86741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8966200" y="39497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258300" y="39497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95504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98425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1346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04267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07188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10109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83820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86741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89662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2583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95504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98425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1346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4267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07188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10109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3820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86741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89662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92583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95504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98425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01346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104267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07188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110109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Text_109"/>
          <p:cNvSpPr txBox="1"/>
          <p:nvPr/>
        </p:nvSpPr>
        <p:spPr>
          <a:xfrm>
            <a:off x="8382000" y="4978400"/>
            <a:ext cx="292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环境与强化学习建模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稀疏反馈与动态蛇身，使简单规则形成长期决策问题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25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954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83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812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241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670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0099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528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6957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96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525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954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6383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9812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3241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670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0099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3528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957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096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525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2954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6383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9812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3241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6670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009900" y="2679700"/>
            <a:ext cx="342900" cy="3429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3528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6957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096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525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2954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6383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9812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3241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6670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30099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3528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36957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6096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525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2954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6383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9812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3241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6670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0099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3528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6957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096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525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2954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638300" y="37084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981200" y="37084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2324100" y="3708400"/>
            <a:ext cx="342900" cy="3429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6670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0099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33528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36957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096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9525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2954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638300" y="40513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9812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3241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6670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30099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3528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6957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096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525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295400" y="43942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638300" y="43942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9812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23241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26670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30099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33528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36957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6096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9525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2954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6383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9812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23241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26670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30099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33528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36957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6096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9525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2954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6383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9812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23241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26670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30099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33528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36957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Text_104"/>
          <p:cNvSpPr txBox="1"/>
          <p:nvPr/>
        </p:nvSpPr>
        <p:spPr>
          <a:xfrm>
            <a:off x="609600" y="5575300"/>
            <a:ext cx="3429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_105"/>
          <p:cNvSpPr txBox="1"/>
          <p:nvPr/>
        </p:nvSpPr>
        <p:spPr>
          <a:xfrm>
            <a:off x="4749800" y="1968500"/>
            <a:ext cx="6832600" cy="1015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棋盘，初始蛇长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
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动作：直行、左转、右转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奖励：食物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，死亡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，移动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</a:t>
            </a:r>
            <a:endParaRPr lang="en-US" altLang="zh-CN" sz="22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49800" y="4064000"/>
            <a:ext cx="177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Text_107"/>
          <p:cNvSpPr txBox="1"/>
          <p:nvPr/>
        </p:nvSpPr>
        <p:spPr>
          <a:xfrm>
            <a:off x="4851400" y="4216400"/>
            <a:ext cx="157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观测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239000" y="4064000"/>
            <a:ext cx="177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Text_109"/>
          <p:cNvSpPr txBox="1"/>
          <p:nvPr/>
        </p:nvSpPr>
        <p:spPr>
          <a:xfrm>
            <a:off x="7340600" y="4216400"/>
            <a:ext cx="157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动作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9728200" y="4064000"/>
            <a:ext cx="1854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Text_111"/>
          <p:cNvSpPr txBox="1"/>
          <p:nvPr/>
        </p:nvSpPr>
        <p:spPr>
          <a:xfrm>
            <a:off x="9829800" y="4216400"/>
            <a:ext cx="1651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3" name="直接连接符 112"/>
          <p:cNvCxnSpPr/>
          <p:nvPr/>
        </p:nvCxnSpPr>
        <p:spPr>
          <a:xfrm>
            <a:off x="6629400" y="4470400"/>
            <a:ext cx="4699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9118600" y="4470400"/>
            <a:ext cx="4699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Text_114"/>
          <p:cNvSpPr txBox="1"/>
          <p:nvPr/>
        </p:nvSpPr>
        <p:spPr>
          <a:xfrm>
            <a:off x="4749800" y="5232400"/>
            <a:ext cx="68326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碰撞或满盘：终止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 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步：截断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状态表示：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维与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提供紧凑基线，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增加距离与相对局部障碍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006600"/>
            <a:ext cx="6350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  11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609600" y="2705100"/>
            <a:ext cx="7112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+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朝向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+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食物方位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endParaRPr lang="en-US" altLang="zh-CN" sz="22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3695700"/>
            <a:ext cx="7493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  11 + 1 + 8 = 20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4419600"/>
            <a:ext cx="7366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增加归一化食物距离与相对八邻域障碍</a:t>
            </a:r>
            <a:endParaRPr lang="zh-CN" altLang="en-US" sz="22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868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535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2202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4869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7536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0203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2870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5537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8204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0871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868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9535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2202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4869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7536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0203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02870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5537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8204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10871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6868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9535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2202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4869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7536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0203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02870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0553700" y="2616200"/>
            <a:ext cx="266700" cy="2667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8204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10871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6868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9535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2202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4869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7536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00203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870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5537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8204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10871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6868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9535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92202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94869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7536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0203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2870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5537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8204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10871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86868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9535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92202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9486900" y="34163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753600" y="34163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0020300" y="3416300"/>
            <a:ext cx="266700" cy="2667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287000" y="34163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5537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8204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10871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86868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9535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2202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486900" y="36830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7536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0203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02870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5537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8204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10871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86868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9535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9220200" y="39497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9486900" y="39497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7536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00203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02870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5537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08204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10871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6868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89535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2202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94869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7536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100203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102870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5537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8204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10871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86868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9535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92202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94869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97536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100203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102870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05537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108204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10871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Text_108"/>
          <p:cNvSpPr txBox="1"/>
          <p:nvPr/>
        </p:nvSpPr>
        <p:spPr>
          <a:xfrm>
            <a:off x="8686800" y="4902200"/>
            <a:ext cx="2667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_109"/>
          <p:cNvSpPr txBox="1"/>
          <p:nvPr/>
        </p:nvSpPr>
        <p:spPr>
          <a:xfrm>
            <a:off x="609600" y="5715000"/>
            <a:ext cx="10795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规则一致：允许进入当步腾出的旧尾格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DQN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与统一训练框架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经验回放与目标网络支持价值学习，三种算法共用运行流程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112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环境交互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798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Text_7"/>
          <p:cNvSpPr txBox="1"/>
          <p:nvPr/>
        </p:nvSpPr>
        <p:spPr>
          <a:xfrm>
            <a:off x="35814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经验回放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500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_9"/>
          <p:cNvSpPr txBox="1"/>
          <p:nvPr/>
        </p:nvSpPr>
        <p:spPr>
          <a:xfrm>
            <a:off x="64516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采样批次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202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Text_11"/>
          <p:cNvSpPr txBox="1"/>
          <p:nvPr/>
        </p:nvSpPr>
        <p:spPr>
          <a:xfrm>
            <a:off x="93218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0734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9436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8138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_15"/>
          <p:cNvSpPr txBox="1"/>
          <p:nvPr/>
        </p:nvSpPr>
        <p:spPr>
          <a:xfrm>
            <a:off x="609600" y="3619500"/>
            <a:ext cx="1092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网络提供下一状态价值</a:t>
            </a:r>
            <a:endParaRPr lang="zh-CN" altLang="en-US" sz="24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_16"/>
          <p:cNvSpPr txBox="1"/>
          <p:nvPr/>
        </p:nvSpPr>
        <p:spPr>
          <a:xfrm>
            <a:off x="609600" y="4381500"/>
            <a:ext cx="109728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y = r + γ(1 − terminated) max Q_target(s′, a′)</a:t>
            </a:r>
            <a:endParaRPr lang="en-US" altLang="en-US" sz="24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_17"/>
          <p:cNvSpPr txBox="1"/>
          <p:nvPr/>
        </p:nvSpPr>
        <p:spPr>
          <a:xfrm>
            <a:off x="609600" y="5334000"/>
            <a:ext cx="109728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epsilon-greedy </a:t>
            </a: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探索；截断仍</a:t>
            </a:r>
            <a:r>
              <a:rPr lang="en-US" altLang="zh-CN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bootstrap
</a:t>
            </a: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统一训练、评估与模型加载，自动保存配置和日志</a:t>
            </a:r>
            <a:endParaRPr lang="zh-CN" altLang="en-US" sz="21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统一实验协议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同组只改变研究变量，所有训练种子完整报告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85420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/>
                <a:gridCol w="8623300"/>
              </a:tblGrid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lang="zh-CN" altLang="en-US" sz="21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设置</a:t>
                      </a:r>
                      <a:endParaRPr lang="zh-CN" altLang="en-US" sz="21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对照训练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每条件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个训练种子：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</a:t>
                      </a:r>
                      <a:endParaRPr lang="en-US" altLang="zh-CN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预算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每模型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100,000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环境步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网络与参数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两层各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128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γ=0.99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，学习率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0.001</a:t>
                      </a:r>
                      <a:endParaRPr lang="en-US" altLang="zh-CN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独立评估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每模型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50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局，纯贪心、不更新网络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核心指标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食物数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Score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；跨模型均值与总体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  <a:endParaRPr lang="en-US" altLang="zh-CN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5"/>
          <p:cNvSpPr txBox="1"/>
          <p:nvPr/>
        </p:nvSpPr>
        <p:spPr>
          <a:xfrm>
            <a:off x="609600" y="5918200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开发、复核、最终测试使用不同环境种子集</a:t>
            </a:r>
            <a:endParaRPr lang="zh-CN" altLang="en-US" sz="2000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 DQN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：选择与评价分离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选择动作，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评价该动作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146300"/>
            <a:ext cx="15875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DQN</a:t>
            </a:r>
            <a:endParaRPr lang="en-US" altLang="en-US" sz="25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67000" y="2006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_6"/>
          <p:cNvSpPr txBox="1"/>
          <p:nvPr/>
        </p:nvSpPr>
        <p:spPr>
          <a:xfrm>
            <a:off x="2768600" y="2159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选最大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5200" y="2006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Text_8"/>
          <p:cNvSpPr txBox="1"/>
          <p:nvPr/>
        </p:nvSpPr>
        <p:spPr>
          <a:xfrm>
            <a:off x="7416800" y="2159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892800" y="2413000"/>
            <a:ext cx="1219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_10"/>
          <p:cNvSpPr txBox="1"/>
          <p:nvPr/>
        </p:nvSpPr>
        <p:spPr>
          <a:xfrm>
            <a:off x="609600" y="3670300"/>
            <a:ext cx="1905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Double</a:t>
            </a:r>
            <a:endParaRPr lang="en-US" altLang="en-US" sz="25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67000" y="3530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Text_12"/>
          <p:cNvSpPr txBox="1"/>
          <p:nvPr/>
        </p:nvSpPr>
        <p:spPr>
          <a:xfrm>
            <a:off x="2768600" y="3683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选动作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15200" y="3530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_14"/>
          <p:cNvSpPr txBox="1"/>
          <p:nvPr/>
        </p:nvSpPr>
        <p:spPr>
          <a:xfrm>
            <a:off x="7416800" y="3683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892800" y="3937000"/>
            <a:ext cx="1219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_16"/>
          <p:cNvSpPr txBox="1"/>
          <p:nvPr/>
        </p:nvSpPr>
        <p:spPr>
          <a:xfrm>
            <a:off x="609600" y="48768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Q_target(s′, argmax Q_online(s′, a′))</a:t>
            </a:r>
            <a:endParaRPr lang="en-US" altLang="en-US" sz="25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_17"/>
          <p:cNvSpPr txBox="1"/>
          <p:nvPr/>
        </p:nvSpPr>
        <p:spPr>
          <a:xfrm>
            <a:off x="609600" y="574040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只改变目标计算，不增加网络参数</a:t>
            </a:r>
            <a:endParaRPr lang="zh-CN" altLang="en-US" sz="2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Dueling DQN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：状态价值与动作优势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共享特征后分别估计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，再聚合为三个动作的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2971800"/>
            <a:ext cx="2641600" cy="9144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11200" y="3124200"/>
            <a:ext cx="2438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共享特征层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800" y="2032000"/>
            <a:ext cx="2794000" cy="838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Text_7"/>
          <p:cNvSpPr txBox="1"/>
          <p:nvPr/>
        </p:nvSpPr>
        <p:spPr>
          <a:xfrm>
            <a:off x="4851400" y="2184400"/>
            <a:ext cx="2590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V(s)</a:t>
            </a:r>
            <a:endParaRPr lang="en-US" altLang="zh-CN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49800" y="4013200"/>
            <a:ext cx="2794000" cy="838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_9"/>
          <p:cNvSpPr txBox="1"/>
          <p:nvPr/>
        </p:nvSpPr>
        <p:spPr>
          <a:xfrm>
            <a:off x="4851400" y="4165600"/>
            <a:ext cx="2590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Advantage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A(s,a)</a:t>
            </a:r>
            <a:endParaRPr lang="en-US" altLang="zh-CN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93200" y="2870200"/>
            <a:ext cx="2489200" cy="1219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Text_11"/>
          <p:cNvSpPr txBox="1"/>
          <p:nvPr/>
        </p:nvSpPr>
        <p:spPr>
          <a:xfrm>
            <a:off x="9194800" y="3022600"/>
            <a:ext cx="22860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三个动作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251200" y="3429000"/>
            <a:ext cx="762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013200" y="2451100"/>
            <a:ext cx="635" cy="1981200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013200" y="2451100"/>
            <a:ext cx="584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013200" y="4432300"/>
            <a:ext cx="584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96200" y="2451100"/>
            <a:ext cx="635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696200" y="4432300"/>
            <a:ext cx="635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1200" y="2451100"/>
            <a:ext cx="635" cy="1981200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331200" y="3479800"/>
            <a:ext cx="6096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_20"/>
          <p:cNvSpPr txBox="1"/>
          <p:nvPr/>
        </p:nvSpPr>
        <p:spPr>
          <a:xfrm>
            <a:off x="609600" y="53340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Q(s,a) = V(s) + A(s,a) − mean A(s,a′)</a:t>
            </a:r>
            <a:endParaRPr lang="en-US" altLang="en-US" sz="25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_21"/>
          <p:cNvSpPr txBox="1"/>
          <p:nvPr/>
        </p:nvSpPr>
        <p:spPr>
          <a:xfrm>
            <a:off x="609600" y="6045200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沿用标准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target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，共享公共训练流程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每局均分提高约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15.72%</a:t>
            </a:r>
            <a:endParaRPr lang="en-US" altLang="zh-CN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sparse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，仅改变状态表示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CHART_STATE"/>
          <p:cNvSpPr/>
          <p:nvPr/>
        </p:nvSpPr>
        <p:spPr>
          <a:xfrm>
            <a:off x="609600" y="1879600"/>
            <a:ext cx="6604000" cy="3860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975600" y="2311400"/>
            <a:ext cx="36068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4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+15.72%</a:t>
            </a:r>
            <a:endParaRPr lang="en-US" altLang="en-US" sz="44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7975600" y="3619500"/>
            <a:ext cx="36068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 19.17 </a:t>
            </a:r>
            <a:r>
              <a:rPr lang="zh-CN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0.56
V2  22.19 </a:t>
            </a:r>
            <a:r>
              <a:rPr lang="zh-CN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</a:t>
            </a:r>
            <a:endParaRPr lang="en-US" altLang="zh-CN" sz="24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7975600" y="5041900"/>
            <a:ext cx="36068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每局得分改善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未证明更稳定或寻食更高效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6007100"/>
            <a:ext cx="10795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误差棒：模型评估均分的跨训练种子总体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ddof=0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奖励塑形：更密集反馈未提高均分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V2 + DQN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，距离系数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，步惩罚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0.01</a:t>
            </a:r>
            <a:endParaRPr lang="en-US" altLang="zh-CN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CHART_REWARD"/>
          <p:cNvSpPr/>
          <p:nvPr/>
        </p:nvSpPr>
        <p:spPr>
          <a:xfrm>
            <a:off x="609600" y="1879600"/>
            <a:ext cx="6350000" cy="3860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645400" y="19939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sparse</a:t>
            </a:r>
            <a:endParaRPr lang="en-US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7645400" y="24511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+10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，死亡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−10</a:t>
            </a:r>
            <a:endParaRPr lang="en-US" altLang="zh-CN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7645400" y="31496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distance</a:t>
            </a:r>
            <a:endParaRPr lang="en-US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7645400" y="36068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额外奖励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距离减少量</a:t>
            </a:r>
            <a:endParaRPr lang="zh-CN" altLang="en-US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_9"/>
          <p:cNvSpPr txBox="1"/>
          <p:nvPr/>
        </p:nvSpPr>
        <p:spPr>
          <a:xfrm>
            <a:off x="7645400" y="44958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distance_step</a:t>
            </a:r>
            <a:endParaRPr lang="en-US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_10"/>
          <p:cNvSpPr txBox="1"/>
          <p:nvPr/>
        </p:nvSpPr>
        <p:spPr>
          <a:xfrm>
            <a:off x="7645400" y="49530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distance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每动作再减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0.01</a:t>
            </a:r>
            <a:endParaRPr lang="en-US" altLang="zh-CN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_11"/>
          <p:cNvSpPr txBox="1"/>
          <p:nvPr/>
        </p:nvSpPr>
        <p:spPr>
          <a:xfrm>
            <a:off x="609600" y="57277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22.19 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 / 19.89 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0.15 / 21.31 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0.27</a:t>
            </a:r>
            <a:endParaRPr lang="en-US" altLang="zh-CN" sz="17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_12"/>
          <p:cNvSpPr txBox="1"/>
          <p:nvPr/>
        </p:nvSpPr>
        <p:spPr>
          <a:xfrm>
            <a:off x="609600" y="61087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 216.16 &gt; 211.87</a:t>
            </a:r>
            <a:r>
              <a:rPr lang="zh-CN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，但食物更少；跨奖励按</a:t>
            </a:r>
            <a:r>
              <a:rPr lang="en-US" altLang="zh-CN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 </a:t>
            </a:r>
            <a:r>
              <a:rPr lang="zh-CN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  <a:endParaRPr lang="zh-CN" altLang="en-US" sz="1700">
              <a:solidFill>
                <a:srgbClr val="D97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默认探索衰减在本次对照中均分最高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V2 + sparse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，仅改变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epsilon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的衰减速度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CHART_EXPLORATION"/>
          <p:cNvSpPr/>
          <p:nvPr/>
        </p:nvSpPr>
        <p:spPr>
          <a:xfrm>
            <a:off x="609600" y="1879600"/>
            <a:ext cx="6350000" cy="3860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645400" y="2070100"/>
            <a:ext cx="3937000" cy="1153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0.9998
</a:t>
            </a: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0.9999
</a:t>
            </a: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0.99995</a:t>
            </a:r>
            <a:endParaRPr lang="en-US" altLang="zh-CN" sz="25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7645400" y="4267200"/>
            <a:ext cx="39370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</a:t>
            </a: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→ 0.05
</a:t>
            </a: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按训练环境步更新</a:t>
            </a:r>
            <a:endParaRPr lang="zh-CN" altLang="en-US" sz="2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570230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训练得分早升</a:t>
            </a:r>
            <a:r>
              <a:rPr lang="en-US" altLang="zh-CN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最终贪心策略更好</a:t>
            </a:r>
            <a:endParaRPr lang="zh-CN" altLang="en-US" sz="22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614680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21.39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0.96 / 22.19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 / 19.94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0.34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；误差为跨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seed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endParaRPr lang="en-US" altLang="zh-CN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综合比较与五种子最终验证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三算法共同配置：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+ sparse +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默认探索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765300"/>
          <a:ext cx="109728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0"/>
                <a:gridCol w="3683000"/>
                <a:gridCol w="4191000"/>
              </a:tblGrid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</a:t>
                      </a:r>
                      <a:endParaRPr lang="zh-CN" altLang="en-US" sz="20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开发均分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  <a:endParaRPr lang="en-US" altLang="zh-CN" sz="20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新种子复核均分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  <a:endParaRPr lang="en-US" altLang="zh-CN" sz="20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DQN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22.19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0.65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21.45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1.49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Double DQN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19.77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0.74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19.89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1.01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Dueling DQN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21.01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1.01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20.83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0.86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Random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0.12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5"/>
          <p:cNvSpPr txBox="1"/>
          <p:nvPr/>
        </p:nvSpPr>
        <p:spPr>
          <a:xfrm>
            <a:off x="609600" y="45847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五训练种子最终确认</a:t>
            </a:r>
            <a:endParaRPr lang="zh-CN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52578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开发集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2298700" y="5168900"/>
            <a:ext cx="336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22.60 </a:t>
            </a:r>
            <a:r>
              <a:rPr lang="zh-CN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1.19</a:t>
            </a:r>
            <a:endParaRPr lang="en-US" altLang="zh-CN" sz="30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273800" y="5257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最终新测试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_9"/>
          <p:cNvSpPr txBox="1"/>
          <p:nvPr/>
        </p:nvSpPr>
        <p:spPr>
          <a:xfrm>
            <a:off x="8229600" y="5168900"/>
            <a:ext cx="335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20.76 </a:t>
            </a:r>
            <a:r>
              <a:rPr lang="zh-CN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2.64</a:t>
            </a:r>
            <a:endParaRPr lang="en-US" altLang="zh-CN" sz="30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_10"/>
          <p:cNvSpPr txBox="1"/>
          <p:nvPr/>
        </p:nvSpPr>
        <p:spPr>
          <a:xfrm>
            <a:off x="609600" y="59436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V2 + sparse + 0.9999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；最终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Random = 0.12</a:t>
            </a:r>
            <a:endParaRPr lang="en-US" altLang="zh-CN" sz="17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_11"/>
          <p:cNvSpPr txBox="1"/>
          <p:nvPr/>
        </p:nvSpPr>
        <p:spPr>
          <a:xfrm>
            <a:off x="609600" y="6350000"/>
            <a:ext cx="10287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上表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，下方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为跨模型均分总体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，两个复核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测试集不同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总结：改进需要实验验证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609600" y="1765300"/>
            <a:ext cx="109728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统一环境与三种算法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4638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3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状态、奖励、探索对照，交互消融与五种子最终测试</a:t>
            </a:r>
            <a:endParaRPr lang="zh-CN" altLang="en-US" sz="23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609600" y="3581400"/>
            <a:ext cx="109728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改善每局得分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42799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3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密集奖励、探索调整与结构改动均需实际检验</a:t>
            </a:r>
            <a:endParaRPr lang="zh-CN" altLang="en-US" sz="23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5372100"/>
            <a:ext cx="10972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局限：种子与预算有限，未证明显著性或普遍最优</a:t>
            </a:r>
            <a:endParaRPr lang="zh-CN" altLang="en-US" sz="21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6083300"/>
            <a:ext cx="104775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环境与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V1    B DQN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与框架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改进算法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D V2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与实验分析</a:t>
            </a:r>
            <a:endParaRPr lang="zh-CN" altLang="en-US" sz="17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WPS 演示</Application>
  <PresentationFormat>宽屏</PresentationFormat>
  <Paragraphs>260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Sue Chou</dc:creator>
  <cp:lastModifiedBy>周欣语</cp:lastModifiedBy>
  <cp:revision>157</cp:revision>
  <dcterms:created xsi:type="dcterms:W3CDTF">2019-06-19T02:08:00Z</dcterms:created>
  <dcterms:modified xsi:type="dcterms:W3CDTF">2026-10-18T15:45:42Z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2AD87D7A2EE84F729E027D54FE44AD58_11</vt:lpwstr>
  </property>
</Properties>
</file>