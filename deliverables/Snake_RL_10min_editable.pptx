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6" d="100"/>
          <a:sy n="96" d="100"/>
        </p:scale>
        <p:origin x="672" y="5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v>平均 Score</c:v>
          </c:tx>
          <c:invertIfNegative val="1"/>
          <c:dPt>
            <c:idx val="0"/>
            <c:invertIfNegative val="1"/>
            <c:bubble3D val="0"/>
            <c:spPr>
              <a:solidFill>
                <a:srgbClr val="81B9A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A2FA-4403-97E2-4B6919C6248D}"/>
              </c:ext>
            </c:extLst>
          </c:dPt>
          <c:dPt>
            <c:idx val="1"/>
            <c:invertIfNegative val="1"/>
            <c:bubble3D val="0"/>
            <c:spPr>
              <a:solidFill>
                <a:srgbClr val="16856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A2FA-4403-97E2-4B6919C6248D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/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errBars>
            <c:errBarType val="both"/>
            <c:errValType val="cust"/>
            <c:noEndCap val="0"/>
            <c:plus>
              <c:numRef>
                <c:f>'数据'!$C$2:$C$3</c:f>
                <c:numCache>
                  <c:formatCode>0.00</c:formatCode>
                  <c:ptCount val="2"/>
                  <c:pt idx="0">
                    <c:v>0.56000000000000005</c:v>
                  </c:pt>
                  <c:pt idx="1">
                    <c:v>0.65</c:v>
                  </c:pt>
                </c:numCache>
              </c:numRef>
            </c:plus>
            <c:minus>
              <c:numRef>
                <c:f>'数据'!$C$2:$C$3</c:f>
                <c:numCache>
                  <c:formatCode>0.00</c:formatCode>
                  <c:ptCount val="2"/>
                  <c:pt idx="0">
                    <c:v>0.56000000000000005</c:v>
                  </c:pt>
                  <c:pt idx="1">
                    <c:v>0.65</c:v>
                  </c:pt>
                </c:numCache>
              </c:numRef>
            </c:minus>
            <c:spPr>
              <a:ln w="16000">
                <a:solidFill>
                  <a:srgbClr val="25352F"/>
                </a:solidFill>
              </a:ln>
            </c:spPr>
          </c:errBars>
          <c:cat>
            <c:strRef>
              <c:f>'数据'!$A$2:$A$3</c:f>
              <c:strCache>
                <c:ptCount val="2"/>
                <c:pt idx="0">
                  <c:v>V1</c:v>
                </c:pt>
                <c:pt idx="1">
                  <c:v>V2</c:v>
                </c:pt>
              </c:strCache>
            </c:strRef>
          </c:cat>
          <c:val>
            <c:numRef>
              <c:f>'数据'!$B$2:$B$3</c:f>
              <c:numCache>
                <c:formatCode>0.00</c:formatCode>
                <c:ptCount val="2"/>
                <c:pt idx="0">
                  <c:v>19.170000000000002</c:v>
                </c:pt>
                <c:pt idx="1">
                  <c:v>22.19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2FA-4403-97E2-4B6919C624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30"/>
        <c:axId val="100"/>
        <c:axId val="200"/>
      </c:barChart>
      <c:catAx>
        <c:axId val="10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700">
                <a:solidFill>
                  <a:srgbClr val="25352F"/>
                </a:solidFill>
                <a:latin typeface="Microsoft YaHei"/>
                <a:ea typeface="Microsoft YaHei"/>
              </a:defRPr>
            </a:pPr>
            <a:endParaRPr lang="zh-CN"/>
          </a:p>
        </c:txPr>
        <c:crossAx val="200"/>
        <c:crosses val="autoZero"/>
        <c:auto val="1"/>
        <c:lblAlgn val="ctr"/>
        <c:lblOffset val="100"/>
        <c:noMultiLvlLbl val="1"/>
      </c:catAx>
      <c:valAx>
        <c:axId val="200"/>
        <c:scaling>
          <c:orientation val="minMax"/>
          <c:max val="30"/>
          <c:min val="0"/>
        </c:scaling>
        <c:delete val="0"/>
        <c:axPos val="l"/>
        <c:majorGridlines>
          <c:spPr>
            <a:ln>
              <a:solidFill>
                <a:srgbClr val="DCE6E0"/>
              </a:solidFill>
            </a:ln>
          </c:spPr>
        </c:majorGridlines>
        <c:numFmt formatCode="0" sourceLinked="0"/>
        <c:majorTickMark val="none"/>
        <c:minorTickMark val="none"/>
        <c:tickLblPos val="nextTo"/>
        <c:txPr>
          <a:bodyPr/>
          <a:lstStyle/>
          <a:p>
            <a:pPr>
              <a:defRPr sz="1700">
                <a:solidFill>
                  <a:srgbClr val="25352F"/>
                </a:solidFill>
                <a:latin typeface="Microsoft YaHei"/>
                <a:ea typeface="Microsoft YaHei"/>
              </a:defRPr>
            </a:pPr>
            <a:endParaRPr lang="zh-CN"/>
          </a:p>
        </c:txPr>
        <c:crossAx val="100"/>
        <c:crosses val="autoZero"/>
        <c:crossBetween val="between"/>
        <c:majorUnit val="10"/>
      </c:valAx>
    </c:plotArea>
    <c:plotVisOnly val="1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v>平均 Score</c:v>
          </c:tx>
          <c:invertIfNegative val="1"/>
          <c:dPt>
            <c:idx val="0"/>
            <c:invertIfNegative val="1"/>
            <c:bubble3D val="0"/>
            <c:spPr>
              <a:solidFill>
                <a:srgbClr val="16856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A166-49EB-9C02-00F470A2FE18}"/>
              </c:ext>
            </c:extLst>
          </c:dPt>
          <c:dPt>
            <c:idx val="1"/>
            <c:invertIfNegative val="1"/>
            <c:bubble3D val="0"/>
            <c:spPr>
              <a:solidFill>
                <a:srgbClr val="D9756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A166-49EB-9C02-00F470A2FE18}"/>
              </c:ext>
            </c:extLst>
          </c:dPt>
          <c:dPt>
            <c:idx val="2"/>
            <c:invertIfNegative val="1"/>
            <c:bubble3D val="0"/>
            <c:spPr>
              <a:solidFill>
                <a:srgbClr val="A5B7A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A166-49EB-9C02-00F470A2FE18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/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errBars>
            <c:errBarType val="both"/>
            <c:errValType val="cust"/>
            <c:noEndCap val="0"/>
            <c:plus>
              <c:numRef>
                <c:f>'数据'!$C$2:$C$4</c:f>
                <c:numCache>
                  <c:formatCode>0.00</c:formatCode>
                  <c:ptCount val="3"/>
                  <c:pt idx="0">
                    <c:v>0.65</c:v>
                  </c:pt>
                  <c:pt idx="1">
                    <c:v>0.15</c:v>
                  </c:pt>
                  <c:pt idx="2">
                    <c:v>0.27</c:v>
                  </c:pt>
                </c:numCache>
              </c:numRef>
            </c:plus>
            <c:minus>
              <c:numRef>
                <c:f>'数据'!$C$2:$C$4</c:f>
                <c:numCache>
                  <c:formatCode>0.00</c:formatCode>
                  <c:ptCount val="3"/>
                  <c:pt idx="0">
                    <c:v>0.65</c:v>
                  </c:pt>
                  <c:pt idx="1">
                    <c:v>0.15</c:v>
                  </c:pt>
                  <c:pt idx="2">
                    <c:v>0.27</c:v>
                  </c:pt>
                </c:numCache>
              </c:numRef>
            </c:minus>
            <c:spPr>
              <a:ln w="16000">
                <a:solidFill>
                  <a:srgbClr val="25352F"/>
                </a:solidFill>
              </a:ln>
            </c:spPr>
          </c:errBars>
          <c:cat>
            <c:strRef>
              <c:f>'数据'!$A$2:$A$4</c:f>
              <c:strCache>
                <c:ptCount val="3"/>
                <c:pt idx="0">
                  <c:v>sparse</c:v>
                </c:pt>
                <c:pt idx="1">
                  <c:v>distance</c:v>
                </c:pt>
                <c:pt idx="2">
                  <c:v>distance_step</c:v>
                </c:pt>
              </c:strCache>
            </c:strRef>
          </c:cat>
          <c:val>
            <c:numRef>
              <c:f>'数据'!$B$2:$B$4</c:f>
              <c:numCache>
                <c:formatCode>0.00</c:formatCode>
                <c:ptCount val="3"/>
                <c:pt idx="0">
                  <c:v>22.19</c:v>
                </c:pt>
                <c:pt idx="1">
                  <c:v>19.89</c:v>
                </c:pt>
                <c:pt idx="2">
                  <c:v>21.31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166-49EB-9C02-00F470A2FE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30"/>
        <c:axId val="100"/>
        <c:axId val="200"/>
      </c:barChart>
      <c:catAx>
        <c:axId val="10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700">
                <a:solidFill>
                  <a:srgbClr val="25352F"/>
                </a:solidFill>
                <a:latin typeface="Microsoft YaHei"/>
                <a:ea typeface="Microsoft YaHei"/>
              </a:defRPr>
            </a:pPr>
            <a:endParaRPr lang="zh-CN"/>
          </a:p>
        </c:txPr>
        <c:crossAx val="200"/>
        <c:crosses val="autoZero"/>
        <c:auto val="1"/>
        <c:lblAlgn val="ctr"/>
        <c:lblOffset val="100"/>
        <c:noMultiLvlLbl val="1"/>
      </c:catAx>
      <c:valAx>
        <c:axId val="200"/>
        <c:scaling>
          <c:orientation val="minMax"/>
          <c:max val="30"/>
          <c:min val="0"/>
        </c:scaling>
        <c:delete val="0"/>
        <c:axPos val="l"/>
        <c:majorGridlines>
          <c:spPr>
            <a:ln>
              <a:solidFill>
                <a:srgbClr val="DCE6E0"/>
              </a:solidFill>
            </a:ln>
          </c:spPr>
        </c:majorGridlines>
        <c:numFmt formatCode="0" sourceLinked="0"/>
        <c:majorTickMark val="none"/>
        <c:minorTickMark val="none"/>
        <c:tickLblPos val="nextTo"/>
        <c:txPr>
          <a:bodyPr/>
          <a:lstStyle/>
          <a:p>
            <a:pPr>
              <a:defRPr sz="1700">
                <a:solidFill>
                  <a:srgbClr val="25352F"/>
                </a:solidFill>
                <a:latin typeface="Microsoft YaHei"/>
                <a:ea typeface="Microsoft YaHei"/>
              </a:defRPr>
            </a:pPr>
            <a:endParaRPr lang="zh-CN"/>
          </a:p>
        </c:txPr>
        <c:crossAx val="100"/>
        <c:crosses val="autoZero"/>
        <c:crossBetween val="between"/>
        <c:majorUnit val="10"/>
      </c:valAx>
    </c:plotArea>
    <c:plotVisOnly val="1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v>平均 Score</c:v>
          </c:tx>
          <c:invertIfNegative val="1"/>
          <c:dPt>
            <c:idx val="0"/>
            <c:invertIfNegative val="1"/>
            <c:bubble3D val="0"/>
            <c:spPr>
              <a:solidFill>
                <a:srgbClr val="A5B7A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4B07-4E33-9B62-1DA34D8C80D7}"/>
              </c:ext>
            </c:extLst>
          </c:dPt>
          <c:dPt>
            <c:idx val="1"/>
            <c:invertIfNegative val="1"/>
            <c:bubble3D val="0"/>
            <c:spPr>
              <a:solidFill>
                <a:srgbClr val="16856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4B07-4E33-9B62-1DA34D8C80D7}"/>
              </c:ext>
            </c:extLst>
          </c:dPt>
          <c:dPt>
            <c:idx val="2"/>
            <c:invertIfNegative val="1"/>
            <c:bubble3D val="0"/>
            <c:spPr>
              <a:solidFill>
                <a:srgbClr val="D9756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4B07-4E33-9B62-1DA34D8C80D7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/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errBars>
            <c:errBarType val="both"/>
            <c:errValType val="cust"/>
            <c:noEndCap val="0"/>
            <c:plus>
              <c:numRef>
                <c:f>'数据'!$C$2:$C$4</c:f>
                <c:numCache>
                  <c:formatCode>0.00</c:formatCode>
                  <c:ptCount val="3"/>
                  <c:pt idx="0">
                    <c:v>0.96</c:v>
                  </c:pt>
                  <c:pt idx="1">
                    <c:v>0.65</c:v>
                  </c:pt>
                  <c:pt idx="2">
                    <c:v>0.34</c:v>
                  </c:pt>
                </c:numCache>
              </c:numRef>
            </c:plus>
            <c:minus>
              <c:numRef>
                <c:f>'数据'!$C$2:$C$4</c:f>
                <c:numCache>
                  <c:formatCode>0.00</c:formatCode>
                  <c:ptCount val="3"/>
                  <c:pt idx="0">
                    <c:v>0.96</c:v>
                  </c:pt>
                  <c:pt idx="1">
                    <c:v>0.65</c:v>
                  </c:pt>
                  <c:pt idx="2">
                    <c:v>0.34</c:v>
                  </c:pt>
                </c:numCache>
              </c:numRef>
            </c:minus>
            <c:spPr>
              <a:ln w="16000">
                <a:solidFill>
                  <a:srgbClr val="25352F"/>
                </a:solidFill>
              </a:ln>
            </c:spPr>
          </c:errBars>
          <c:cat>
            <c:strRef>
              <c:f>'数据'!$A$2:$A$4</c:f>
              <c:strCache>
                <c:ptCount val="3"/>
                <c:pt idx="0">
                  <c:v>快</c:v>
                </c:pt>
                <c:pt idx="1">
                  <c:v>默认</c:v>
                </c:pt>
                <c:pt idx="2">
                  <c:v>慢</c:v>
                </c:pt>
              </c:strCache>
            </c:strRef>
          </c:cat>
          <c:val>
            <c:numRef>
              <c:f>'数据'!$B$2:$B$4</c:f>
              <c:numCache>
                <c:formatCode>0.00</c:formatCode>
                <c:ptCount val="3"/>
                <c:pt idx="0">
                  <c:v>21.39</c:v>
                </c:pt>
                <c:pt idx="1">
                  <c:v>22.19</c:v>
                </c:pt>
                <c:pt idx="2">
                  <c:v>19.940000000000001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B07-4E33-9B62-1DA34D8C80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30"/>
        <c:axId val="100"/>
        <c:axId val="200"/>
      </c:barChart>
      <c:catAx>
        <c:axId val="10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700">
                <a:solidFill>
                  <a:srgbClr val="25352F"/>
                </a:solidFill>
                <a:latin typeface="Microsoft YaHei"/>
                <a:ea typeface="Microsoft YaHei"/>
              </a:defRPr>
            </a:pPr>
            <a:endParaRPr lang="zh-CN"/>
          </a:p>
        </c:txPr>
        <c:crossAx val="200"/>
        <c:crosses val="autoZero"/>
        <c:auto val="1"/>
        <c:lblAlgn val="ctr"/>
        <c:lblOffset val="100"/>
        <c:noMultiLvlLbl val="1"/>
      </c:catAx>
      <c:valAx>
        <c:axId val="200"/>
        <c:scaling>
          <c:orientation val="minMax"/>
          <c:max val="30"/>
          <c:min val="0"/>
        </c:scaling>
        <c:delete val="0"/>
        <c:axPos val="l"/>
        <c:majorGridlines>
          <c:spPr>
            <a:ln>
              <a:solidFill>
                <a:srgbClr val="DCE6E0"/>
              </a:solidFill>
            </a:ln>
          </c:spPr>
        </c:majorGridlines>
        <c:numFmt formatCode="0" sourceLinked="0"/>
        <c:majorTickMark val="none"/>
        <c:minorTickMark val="none"/>
        <c:tickLblPos val="nextTo"/>
        <c:txPr>
          <a:bodyPr/>
          <a:lstStyle/>
          <a:p>
            <a:pPr>
              <a:defRPr sz="1700">
                <a:solidFill>
                  <a:srgbClr val="25352F"/>
                </a:solidFill>
                <a:latin typeface="Microsoft YaHei"/>
                <a:ea typeface="Microsoft YaHei"/>
              </a:defRPr>
            </a:pPr>
            <a:endParaRPr lang="zh-CN"/>
          </a:p>
        </c:txPr>
        <c:crossAx val="100"/>
        <c:crosses val="autoZero"/>
        <c:crossBetween val="between"/>
        <c:majorUnit val="10"/>
      </c:valAx>
    </c:plotArea>
    <c:plotVisOnly val="1"/>
    <c:dispBlanksAs val="gap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汇报人：</a:t>
            </a:r>
            <a:r>
              <a:rPr lang="en-US" altLang="zh-CN"/>
              <a:t>A
</a:t>
            </a:r>
            <a:r>
              <a:rPr lang="zh-CN" altLang="en-US"/>
              <a:t>建议时长：</a:t>
            </a:r>
            <a:r>
              <a:rPr lang="en-US" altLang="zh-CN"/>
              <a:t>20 </a:t>
            </a:r>
            <a:r>
              <a:rPr lang="zh-CN" altLang="en-US"/>
              <a:t>秒</a:t>
            </a:r>
            <a:r>
              <a:rPr lang="en-US" altLang="zh-CN"/>
              <a:t>
</a:t>
            </a:r>
            <a:r>
              <a:rPr lang="zh-CN" altLang="en-US"/>
              <a:t>讲稿：</a:t>
            </a:r>
            <a:r>
              <a:rPr lang="en-US" altLang="zh-CN"/>
              <a:t>
</a:t>
            </a:r>
            <a:r>
              <a:rPr lang="zh-CN" altLang="en-US"/>
              <a:t>各位老师、同学好。我们在自建贪吃蛇环境中实现三种</a:t>
            </a:r>
            <a:r>
              <a:rPr lang="en-US" altLang="zh-CN"/>
              <a:t>DQN</a:t>
            </a:r>
            <a:r>
              <a:rPr lang="zh-CN" altLang="en-US"/>
              <a:t>算法，研究哪些状态、奖励和探索设计能让智能体吃到更多食物。下面先介绍环境，再介绍算法和实验结果。</a:t>
            </a:r>
            <a:r>
              <a:rPr lang="en-US" altLang="zh-CN"/>
              <a:t>
</a:t>
            </a:r>
            <a:r>
              <a:rPr lang="zh-CN" altLang="en-US"/>
              <a:t>项目事实来源：</a:t>
            </a:r>
            <a:r>
              <a:rPr lang="en-US" altLang="zh-CN"/>
              <a:t>ppt.md</a:t>
            </a:r>
            <a:r>
              <a:rPr lang="zh-CN" altLang="en-US"/>
              <a:t>。页内统计均以项目正式实验记录为准。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汇报人：</a:t>
            </a:r>
            <a:r>
              <a:rPr lang="en-US" altLang="zh-CN"/>
              <a:t>A
</a:t>
            </a:r>
            <a:r>
              <a:rPr lang="zh-CN" altLang="en-US"/>
              <a:t>建议时长：</a:t>
            </a:r>
            <a:r>
              <a:rPr lang="en-US" altLang="zh-CN"/>
              <a:t>40 </a:t>
            </a:r>
            <a:r>
              <a:rPr lang="zh-CN" altLang="en-US"/>
              <a:t>秒</a:t>
            </a:r>
            <a:r>
              <a:rPr lang="en-US" altLang="zh-CN"/>
              <a:t>
</a:t>
            </a:r>
            <a:r>
              <a:rPr lang="zh-CN" altLang="en-US"/>
              <a:t>讲稿：</a:t>
            </a:r>
            <a:r>
              <a:rPr lang="en-US" altLang="zh-CN"/>
              <a:t>
</a:t>
            </a:r>
            <a:r>
              <a:rPr lang="zh-CN" altLang="en-US"/>
              <a:t>棋盘是十乘十，初始蛇长三，智能体每步选择直行、左转或右转。基础奖励只在吃到食物或死亡时出现，因此反馈稀疏。随着蛇身增长，可走空间也在变化，这要求考虑长期后果。所有算法共用环境。碰撞或满盘是真终止，达到五百步只是截断。</a:t>
            </a:r>
            <a:r>
              <a:rPr lang="en-US" altLang="zh-CN"/>
              <a:t>
</a:t>
            </a:r>
            <a:r>
              <a:rPr lang="zh-CN" altLang="en-US"/>
              <a:t>补充说明：</a:t>
            </a:r>
            <a:r>
              <a:rPr lang="en-US" altLang="zh-CN"/>
              <a:t>
</a:t>
            </a:r>
            <a:r>
              <a:rPr lang="zh-CN" altLang="en-US"/>
              <a:t>完整游戏状态可以描述</a:t>
            </a:r>
            <a:r>
              <a:rPr lang="en-US" altLang="zh-CN"/>
              <a:t>MDP</a:t>
            </a:r>
            <a:r>
              <a:rPr lang="zh-CN" altLang="en-US"/>
              <a:t>，但人工压缩观测不保证完整马尔可夫性。</a:t>
            </a:r>
            <a:r>
              <a:rPr lang="en-US" altLang="zh-CN"/>
              <a:t>
</a:t>
            </a:r>
            <a:r>
              <a:rPr lang="zh-CN" altLang="en-US"/>
              <a:t>项目事实来源：</a:t>
            </a:r>
            <a:r>
              <a:rPr lang="en-US" altLang="zh-CN"/>
              <a:t>docs/INTERFACE.md</a:t>
            </a:r>
            <a:r>
              <a:rPr lang="zh-CN" altLang="en-US"/>
              <a:t>。页内统计均以项目正式实验记录为准。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汇报人：</a:t>
            </a:r>
            <a:r>
              <a:rPr lang="en-US" altLang="zh-CN"/>
              <a:t>A
</a:t>
            </a:r>
            <a:r>
              <a:rPr lang="zh-CN" altLang="en-US"/>
              <a:t>建议时长：</a:t>
            </a:r>
            <a:r>
              <a:rPr lang="en-US" altLang="zh-CN"/>
              <a:t>50 </a:t>
            </a:r>
            <a:r>
              <a:rPr lang="zh-CN" altLang="en-US"/>
              <a:t>秒</a:t>
            </a:r>
            <a:r>
              <a:rPr lang="en-US" altLang="zh-CN"/>
              <a:t>
</a:t>
            </a:r>
            <a:r>
              <a:rPr lang="zh-CN" altLang="en-US"/>
              <a:t>讲稿：</a:t>
            </a:r>
            <a:r>
              <a:rPr lang="en-US" altLang="zh-CN"/>
              <a:t>
V1</a:t>
            </a:r>
            <a:r>
              <a:rPr lang="zh-CN" altLang="en-US"/>
              <a:t>把棋盘压缩成十一维，分别描述三个相对动作的危险、四个朝向和四个食物方位。</a:t>
            </a:r>
            <a:r>
              <a:rPr lang="en-US" altLang="zh-CN"/>
              <a:t>V2</a:t>
            </a:r>
            <a:r>
              <a:rPr lang="zh-CN" altLang="en-US"/>
              <a:t>保留原特征，再加一个归一化曼哈顿距离和八个相对邻域障碍特征。图中浅绿色标出局部邻域。食物方位不互斥，斜向可以同时激活两项。环境还统一处理旧尾格，因为尾巴当步会移走。</a:t>
            </a:r>
            <a:r>
              <a:rPr lang="en-US" altLang="zh-CN"/>
              <a:t>
</a:t>
            </a:r>
            <a:r>
              <a:rPr lang="zh-CN" altLang="en-US"/>
              <a:t>补充说明：</a:t>
            </a:r>
            <a:r>
              <a:rPr lang="en-US" altLang="zh-CN"/>
              <a:t>
A</a:t>
            </a:r>
            <a:r>
              <a:rPr lang="zh-CN" altLang="en-US"/>
              <a:t>负责环境和</a:t>
            </a:r>
            <a:r>
              <a:rPr lang="en-US" altLang="zh-CN"/>
              <a:t>V1</a:t>
            </a:r>
            <a:r>
              <a:rPr lang="zh-CN" altLang="en-US"/>
              <a:t>基础，</a:t>
            </a:r>
            <a:r>
              <a:rPr lang="en-US" altLang="zh-CN"/>
              <a:t>D</a:t>
            </a:r>
            <a:r>
              <a:rPr lang="zh-CN" altLang="en-US"/>
              <a:t>后续完成</a:t>
            </a:r>
            <a:r>
              <a:rPr lang="en-US" altLang="zh-CN"/>
              <a:t>V2</a:t>
            </a:r>
            <a:r>
              <a:rPr lang="zh-CN" altLang="en-US"/>
              <a:t>及尾格占用集合更新修复；此处只解释设计，第</a:t>
            </a:r>
            <a:r>
              <a:rPr lang="en-US" altLang="zh-CN"/>
              <a:t>8</a:t>
            </a:r>
            <a:r>
              <a:rPr lang="zh-CN" altLang="en-US"/>
              <a:t>页报告效果。</a:t>
            </a:r>
            <a:r>
              <a:rPr lang="en-US" altLang="zh-CN"/>
              <a:t>
</a:t>
            </a:r>
            <a:r>
              <a:rPr lang="zh-CN" altLang="en-US"/>
              <a:t>项目事实来源：</a:t>
            </a:r>
            <a:r>
              <a:rPr lang="en-US" altLang="zh-CN"/>
              <a:t>docs/INTERFACE.md</a:t>
            </a:r>
            <a:r>
              <a:rPr lang="zh-CN" altLang="en-US"/>
              <a:t>；</a:t>
            </a:r>
            <a:r>
              <a:rPr lang="en-US" altLang="zh-CN"/>
              <a:t>docs/STATE_EXPERIMENT.md</a:t>
            </a:r>
            <a:r>
              <a:rPr lang="zh-CN" altLang="en-US"/>
              <a:t>。页内统计均以项目正式实验记录为准。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汇报人：</a:t>
            </a:r>
            <a:r>
              <a:rPr lang="en-US" altLang="zh-CN"/>
              <a:t>B
</a:t>
            </a:r>
            <a:r>
              <a:rPr lang="zh-CN" altLang="en-US"/>
              <a:t>建议时长：</a:t>
            </a:r>
            <a:r>
              <a:rPr lang="en-US" altLang="zh-CN"/>
              <a:t>55 </a:t>
            </a:r>
            <a:r>
              <a:rPr lang="zh-CN" altLang="en-US"/>
              <a:t>秒</a:t>
            </a:r>
            <a:r>
              <a:rPr lang="en-US" altLang="zh-CN"/>
              <a:t>
</a:t>
            </a:r>
            <a:r>
              <a:rPr lang="zh-CN" altLang="en-US"/>
              <a:t>讲稿：</a:t>
            </a:r>
            <a:r>
              <a:rPr lang="en-US" altLang="zh-CN"/>
              <a:t>
DQN</a:t>
            </a:r>
            <a:r>
              <a:rPr lang="zh-CN" altLang="en-US"/>
              <a:t>估计的是动作的长期价值，目标包含即时奖励和下一状态折扣价值。环境经历先写入回放池，再随机采样小批次更新在线网络，目标网络提供下一状态估值。只有真正终止才移除未来项，截断仍然</a:t>
            </a:r>
            <a:r>
              <a:rPr lang="en-US" altLang="zh-CN"/>
              <a:t>bootstrap</a:t>
            </a:r>
            <a:r>
              <a:rPr lang="zh-CN" altLang="en-US"/>
              <a:t>。探索用</a:t>
            </a:r>
            <a:r>
              <a:rPr lang="en-US" altLang="zh-CN"/>
              <a:t>epsilon-greedy</a:t>
            </a:r>
            <a:r>
              <a:rPr lang="zh-CN" altLang="en-US"/>
              <a:t>。我们让三算法共享训练、评估和模型恢复流程，避免复制三套代码带来额外差异。</a:t>
            </a:r>
            <a:r>
              <a:rPr lang="en-US" altLang="zh-CN"/>
              <a:t>
</a:t>
            </a:r>
            <a:r>
              <a:rPr lang="zh-CN" altLang="en-US"/>
              <a:t>补充说明：</a:t>
            </a:r>
            <a:r>
              <a:rPr lang="en-US" altLang="zh-CN"/>
              <a:t>
</a:t>
            </a:r>
            <a:r>
              <a:rPr lang="zh-CN" altLang="en-US"/>
              <a:t>目标网络每</a:t>
            </a:r>
            <a:r>
              <a:rPr lang="en-US" altLang="zh-CN"/>
              <a:t>1000</a:t>
            </a:r>
            <a:r>
              <a:rPr lang="zh-CN" altLang="en-US"/>
              <a:t>次成功梯度更新同步，不按环境步计数。</a:t>
            </a:r>
            <a:r>
              <a:rPr lang="en-US" altLang="zh-CN"/>
              <a:t>
</a:t>
            </a:r>
            <a:r>
              <a:rPr lang="zh-CN" altLang="en-US"/>
              <a:t>项目事实来源：</a:t>
            </a:r>
            <a:r>
              <a:rPr lang="en-US" altLang="zh-CN"/>
              <a:t>algorithms/dqn.py</a:t>
            </a:r>
            <a:r>
              <a:rPr lang="zh-CN" altLang="en-US"/>
              <a:t>；</a:t>
            </a:r>
            <a:r>
              <a:rPr lang="en-US" altLang="zh-CN"/>
              <a:t>train.py</a:t>
            </a:r>
            <a:r>
              <a:rPr lang="zh-CN" altLang="en-US"/>
              <a:t>；</a:t>
            </a:r>
            <a:r>
              <a:rPr lang="en-US" altLang="zh-CN"/>
              <a:t>evaluate.py</a:t>
            </a:r>
            <a:r>
              <a:rPr lang="zh-CN" altLang="en-US"/>
              <a:t>。页内统计均以项目正式实验记录为准。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汇报人：</a:t>
            </a:r>
            <a:r>
              <a:rPr lang="en-US" altLang="zh-CN"/>
              <a:t>B
</a:t>
            </a:r>
            <a:r>
              <a:rPr lang="zh-CN" altLang="en-US"/>
              <a:t>建议时长：</a:t>
            </a:r>
            <a:r>
              <a:rPr lang="en-US" altLang="zh-CN"/>
              <a:t>45 </a:t>
            </a:r>
            <a:r>
              <a:rPr lang="zh-CN" altLang="en-US"/>
              <a:t>秒</a:t>
            </a:r>
            <a:r>
              <a:rPr lang="en-US" altLang="zh-CN"/>
              <a:t>
</a:t>
            </a:r>
            <a:r>
              <a:rPr lang="zh-CN" altLang="en-US"/>
              <a:t>讲稿：</a:t>
            </a:r>
            <a:r>
              <a:rPr lang="en-US" altLang="zh-CN"/>
              <a:t>
</a:t>
            </a:r>
            <a:r>
              <a:rPr lang="zh-CN" altLang="en-US"/>
              <a:t>正式对照通常每个条件训练三个种子，每个模型十万环境步。网络使用两层一百二十八维隐藏层，学习率千分之一。各模型再用共同环境种子独立评估五十局，关闭探索和学习。主指标是食物数，误差是模型均分之间的总体标准差。五十局不能当成五十个训练种子。最后冻结配置，再扩展到五个训练种子和全新测试集。</a:t>
            </a:r>
            <a:r>
              <a:rPr lang="en-US" altLang="zh-CN"/>
              <a:t>
</a:t>
            </a:r>
            <a:r>
              <a:rPr lang="zh-CN" altLang="en-US"/>
              <a:t>补充说明：</a:t>
            </a:r>
            <a:r>
              <a:rPr lang="en-US" altLang="zh-CN"/>
              <a:t>
</a:t>
            </a:r>
            <a:r>
              <a:rPr lang="zh-CN" altLang="en-US"/>
              <a:t>开发环境种子</a:t>
            </a:r>
            <a:r>
              <a:rPr lang="en-US" altLang="zh-CN"/>
              <a:t>10000–10049</a:t>
            </a:r>
            <a:r>
              <a:rPr lang="zh-CN" altLang="en-US"/>
              <a:t>，算法复核</a:t>
            </a:r>
            <a:r>
              <a:rPr lang="en-US" altLang="zh-CN"/>
              <a:t>20000–20049</a:t>
            </a:r>
            <a:r>
              <a:rPr lang="zh-CN" altLang="en-US"/>
              <a:t>，最终测试</a:t>
            </a:r>
            <a:r>
              <a:rPr lang="en-US" altLang="zh-CN"/>
              <a:t>30000–30049</a:t>
            </a:r>
            <a:r>
              <a:rPr lang="zh-CN" altLang="en-US"/>
              <a:t>。最终训练种子</a:t>
            </a:r>
            <a:r>
              <a:rPr lang="en-US" altLang="zh-CN"/>
              <a:t>42–46</a:t>
            </a:r>
            <a:r>
              <a:rPr lang="zh-CN" altLang="en-US"/>
              <a:t>。</a:t>
            </a:r>
            <a:r>
              <a:rPr lang="en-US" altLang="zh-CN"/>
              <a:t>SD</a:t>
            </a:r>
            <a:r>
              <a:rPr lang="zh-CN" altLang="en-US"/>
              <a:t>采用</a:t>
            </a:r>
            <a:r>
              <a:rPr lang="en-US" altLang="zh-CN"/>
              <a:t>ddof=0</a:t>
            </a:r>
            <a:r>
              <a:rPr lang="zh-CN" altLang="en-US"/>
              <a:t>，不是置信区间。</a:t>
            </a:r>
            <a:r>
              <a:rPr lang="en-US" altLang="zh-CN"/>
              <a:t>
</a:t>
            </a:r>
            <a:r>
              <a:rPr lang="zh-CN" altLang="en-US"/>
              <a:t>项目事实来源：</a:t>
            </a:r>
            <a:r>
              <a:rPr lang="en-US" altLang="zh-CN"/>
              <a:t>docs/EXPERIMENT_PROTOCOL.md</a:t>
            </a:r>
            <a:r>
              <a:rPr lang="zh-CN" altLang="en-US"/>
              <a:t>；</a:t>
            </a:r>
            <a:r>
              <a:rPr lang="en-US" altLang="zh-CN"/>
              <a:t>docs/FINAL_EXPERIMENT.md</a:t>
            </a:r>
            <a:r>
              <a:rPr lang="zh-CN" altLang="en-US"/>
              <a:t>。页内统计均以项目正式实验记录为准。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汇报人：</a:t>
            </a:r>
            <a:r>
              <a:rPr lang="en-US" altLang="zh-CN"/>
              <a:t>C
</a:t>
            </a:r>
            <a:r>
              <a:rPr lang="zh-CN" altLang="en-US"/>
              <a:t>建议时长：</a:t>
            </a:r>
            <a:r>
              <a:rPr lang="en-US" altLang="zh-CN"/>
              <a:t>50 </a:t>
            </a:r>
            <a:r>
              <a:rPr lang="zh-CN" altLang="en-US"/>
              <a:t>秒</a:t>
            </a:r>
            <a:r>
              <a:rPr lang="en-US" altLang="zh-CN"/>
              <a:t>
</a:t>
            </a:r>
            <a:r>
              <a:rPr lang="zh-CN" altLang="en-US"/>
              <a:t>讲稿：</a:t>
            </a:r>
            <a:r>
              <a:rPr lang="en-US" altLang="zh-CN"/>
              <a:t>
</a:t>
            </a:r>
            <a:r>
              <a:rPr lang="zh-CN" altLang="en-US"/>
              <a:t>标准</a:t>
            </a:r>
            <a:r>
              <a:rPr lang="en-US" altLang="zh-CN"/>
              <a:t>DQN</a:t>
            </a:r>
            <a:r>
              <a:rPr lang="zh-CN" altLang="en-US"/>
              <a:t>使用目标网络同时选择最大动作并评价该动作。估计有噪声时，</a:t>
            </a:r>
            <a:r>
              <a:rPr lang="en-US" altLang="zh-CN"/>
              <a:t>max</a:t>
            </a:r>
            <a:r>
              <a:rPr lang="zh-CN" altLang="en-US"/>
              <a:t>可能偏向取到高估值。</a:t>
            </a:r>
            <a:r>
              <a:rPr lang="en-US" altLang="zh-CN"/>
              <a:t>Double</a:t>
            </a:r>
            <a:r>
              <a:rPr lang="zh-CN" altLang="en-US"/>
              <a:t>把选择与评价分开：在线网络给出动作，目标网络评价这个动作。其余训练逻辑和终止约定不变，网络参数量不增加。这是缓解高估的设计动机，最终是否提高分数仍需实验判断。</a:t>
            </a:r>
            <a:r>
              <a:rPr lang="en-US" altLang="zh-CN"/>
              <a:t>
</a:t>
            </a:r>
            <a:r>
              <a:rPr lang="zh-CN" altLang="en-US"/>
              <a:t>补充说明：</a:t>
            </a:r>
            <a:r>
              <a:rPr lang="en-US" altLang="zh-CN"/>
              <a:t>
</a:t>
            </a:r>
            <a:r>
              <a:rPr lang="zh-CN" altLang="en-US"/>
              <a:t>不保证消除全部偏差，本项目未测真实</a:t>
            </a:r>
            <a:r>
              <a:rPr lang="en-US" altLang="zh-CN"/>
              <a:t>Q</a:t>
            </a:r>
            <a:r>
              <a:rPr lang="zh-CN" altLang="en-US"/>
              <a:t>值偏差。</a:t>
            </a:r>
            <a:r>
              <a:rPr lang="en-US" altLang="zh-CN"/>
              <a:t>Double</a:t>
            </a:r>
            <a:r>
              <a:rPr lang="zh-CN" altLang="en-US"/>
              <a:t>多一次下一状态的</a:t>
            </a:r>
            <a:r>
              <a:rPr lang="en-US" altLang="zh-CN"/>
              <a:t>Online</a:t>
            </a:r>
            <a:r>
              <a:rPr lang="zh-CN" altLang="en-US"/>
              <a:t>前向，不能说计算量完全不变。</a:t>
            </a:r>
            <a:r>
              <a:rPr lang="en-US" altLang="zh-CN"/>
              <a:t>
</a:t>
            </a:r>
            <a:r>
              <a:rPr lang="zh-CN" altLang="en-US"/>
              <a:t>项目事实来源：</a:t>
            </a:r>
            <a:r>
              <a:rPr lang="en-US" altLang="zh-CN"/>
              <a:t>algorithms/double_dqn.py</a:t>
            </a:r>
            <a:r>
              <a:rPr lang="zh-CN" altLang="en-US"/>
              <a:t>；</a:t>
            </a:r>
            <a:r>
              <a:rPr lang="en-US" altLang="zh-CN"/>
              <a:t>tests/test_double_dqn.py</a:t>
            </a:r>
            <a:r>
              <a:rPr lang="zh-CN" altLang="en-US"/>
              <a:t>。页内统计均以项目正式实验记录为准。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汇报人：</a:t>
            </a:r>
            <a:r>
              <a:rPr lang="en-US" altLang="zh-CN"/>
              <a:t>C
</a:t>
            </a:r>
            <a:r>
              <a:rPr lang="zh-CN" altLang="en-US"/>
              <a:t>建议时长：</a:t>
            </a:r>
            <a:r>
              <a:rPr lang="en-US" altLang="zh-CN"/>
              <a:t>50 </a:t>
            </a:r>
            <a:r>
              <a:rPr lang="zh-CN" altLang="en-US"/>
              <a:t>秒</a:t>
            </a:r>
            <a:r>
              <a:rPr lang="en-US" altLang="zh-CN"/>
              <a:t>
</a:t>
            </a:r>
            <a:r>
              <a:rPr lang="zh-CN" altLang="en-US"/>
              <a:t>讲稿：</a:t>
            </a:r>
            <a:r>
              <a:rPr lang="en-US" altLang="zh-CN"/>
              <a:t>
Dueling</a:t>
            </a:r>
            <a:r>
              <a:rPr lang="zh-CN" altLang="en-US"/>
              <a:t>改变的是网络结构。共享层提取特征后，一路输出状态价值，一路输出三个动作的相对优势，再减去优势均值合成为</a:t>
            </a:r>
            <a:r>
              <a:rPr lang="en-US" altLang="zh-CN"/>
              <a:t>Q</a:t>
            </a:r>
            <a:r>
              <a:rPr lang="zh-CN" altLang="en-US"/>
              <a:t>值。减均值约束两部分的分解。输出仍是三个动作价值，所以公共训练评估接口保持一致。本项目这个版本沿用标准</a:t>
            </a:r>
            <a:r>
              <a:rPr lang="en-US" altLang="zh-CN"/>
              <a:t>DQN</a:t>
            </a:r>
            <a:r>
              <a:rPr lang="zh-CN" altLang="en-US"/>
              <a:t>目标，并不是</a:t>
            </a:r>
            <a:r>
              <a:rPr lang="en-US" altLang="zh-CN"/>
              <a:t>Double</a:t>
            </a:r>
            <a:r>
              <a:rPr lang="zh-CN" altLang="en-US"/>
              <a:t>和</a:t>
            </a:r>
            <a:r>
              <a:rPr lang="en-US" altLang="zh-CN"/>
              <a:t>Dueling</a:t>
            </a:r>
            <a:r>
              <a:rPr lang="zh-CN" altLang="en-US"/>
              <a:t>的组合。</a:t>
            </a:r>
            <a:r>
              <a:rPr lang="en-US" altLang="zh-CN"/>
              <a:t>
</a:t>
            </a:r>
            <a:r>
              <a:rPr lang="zh-CN" altLang="en-US"/>
              <a:t>补充说明：</a:t>
            </a:r>
            <a:r>
              <a:rPr lang="en-US" altLang="zh-CN"/>
              <a:t>
</a:t>
            </a:r>
            <a:r>
              <a:rPr lang="zh-CN" altLang="en-US"/>
              <a:t>价值分解是表征设计，不等于已经证明更稳定或更高效。两种算法都做过数值和训练保存恢复验证。</a:t>
            </a:r>
            <a:r>
              <a:rPr lang="en-US" altLang="zh-CN"/>
              <a:t>
</a:t>
            </a:r>
            <a:r>
              <a:rPr lang="zh-CN" altLang="en-US"/>
              <a:t>项目事实来源：</a:t>
            </a:r>
            <a:r>
              <a:rPr lang="en-US" altLang="zh-CN"/>
              <a:t>algorithms/dueling_dqn.py</a:t>
            </a:r>
            <a:r>
              <a:rPr lang="zh-CN" altLang="en-US"/>
              <a:t>；</a:t>
            </a:r>
            <a:r>
              <a:rPr lang="en-US" altLang="zh-CN"/>
              <a:t>algorithms/networks.py</a:t>
            </a:r>
            <a:r>
              <a:rPr lang="zh-CN" altLang="en-US"/>
              <a:t>。页内统计均以项目正式实验记录为准。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汇报人：</a:t>
            </a:r>
            <a:r>
              <a:rPr lang="en-US" altLang="zh-CN"/>
              <a:t>D
</a:t>
            </a:r>
            <a:r>
              <a:rPr lang="zh-CN" altLang="en-US"/>
              <a:t>建议时长：</a:t>
            </a:r>
            <a:r>
              <a:rPr lang="en-US" altLang="zh-CN"/>
              <a:t>45 </a:t>
            </a:r>
            <a:r>
              <a:rPr lang="zh-CN" altLang="en-US"/>
              <a:t>秒</a:t>
            </a:r>
            <a:r>
              <a:rPr lang="en-US" altLang="zh-CN"/>
              <a:t>
</a:t>
            </a:r>
            <a:r>
              <a:rPr lang="zh-CN" altLang="en-US"/>
              <a:t>讲稿：</a:t>
            </a:r>
            <a:r>
              <a:rPr lang="en-US" altLang="zh-CN"/>
              <a:t>
</a:t>
            </a:r>
            <a:r>
              <a:rPr lang="zh-CN" altLang="en-US"/>
              <a:t>当前环境重新训练后，</a:t>
            </a:r>
            <a:r>
              <a:rPr lang="en-US" altLang="zh-CN"/>
              <a:t>V1</a:t>
            </a:r>
            <a:r>
              <a:rPr lang="zh-CN" altLang="en-US"/>
              <a:t>平均得分十九点一七，</a:t>
            </a:r>
            <a:r>
              <a:rPr lang="en-US" altLang="zh-CN"/>
              <a:t>V2</a:t>
            </a:r>
            <a:r>
              <a:rPr lang="zh-CN" altLang="en-US"/>
              <a:t>二十二点一九，提升约百分之十五点七。三个配对训练种子均提高。但波动没有降低，单位步数食物数也没提高。因此主要贡献是每局获得更多食物，不能理解成全面改善。</a:t>
            </a:r>
            <a:r>
              <a:rPr lang="en-US" altLang="zh-CN"/>
              <a:t>
</a:t>
            </a:r>
            <a:r>
              <a:rPr lang="zh-CN" altLang="en-US"/>
              <a:t>补充说明：</a:t>
            </a:r>
            <a:r>
              <a:rPr lang="en-US" altLang="zh-CN"/>
              <a:t>
</a:t>
            </a:r>
            <a:r>
              <a:rPr lang="zh-CN" altLang="en-US"/>
              <a:t>两组同一尾格修复环境。</a:t>
            </a:r>
            <a:r>
              <a:rPr lang="en-US" altLang="zh-CN"/>
              <a:t>V2</a:t>
            </a:r>
            <a:r>
              <a:rPr lang="zh-CN" altLang="en-US"/>
              <a:t>同时新增距离和八邻域特征，增加</a:t>
            </a:r>
            <a:r>
              <a:rPr lang="en-US" altLang="zh-CN"/>
              <a:t>1152</a:t>
            </a:r>
            <a:r>
              <a:rPr lang="zh-CN" altLang="en-US"/>
              <a:t>参数，未拆分各自贡献。比例用未四舍五入均值计算。</a:t>
            </a:r>
            <a:r>
              <a:rPr lang="en-US" altLang="zh-CN"/>
              <a:t>
</a:t>
            </a:r>
            <a:r>
              <a:rPr lang="zh-CN" altLang="en-US"/>
              <a:t>项目事实来源：</a:t>
            </a:r>
            <a:r>
              <a:rPr lang="en-US" altLang="zh-CN"/>
              <a:t>docs/STATE_EXPERIMENT.md</a:t>
            </a:r>
            <a:r>
              <a:rPr lang="zh-CN" altLang="en-US"/>
              <a:t>；</a:t>
            </a:r>
            <a:r>
              <a:rPr lang="en-US" altLang="zh-CN"/>
              <a:t>results/state_experiments/state_v1_v2_20261018_134610_974148_b458c91f/comparison.json</a:t>
            </a:r>
            <a:r>
              <a:rPr lang="zh-CN" altLang="en-US"/>
              <a:t>。页内统计均以项目正式实验记录为准。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汇报人：</a:t>
            </a:r>
            <a:r>
              <a:rPr lang="en-US" altLang="zh-CN"/>
              <a:t>D
</a:t>
            </a:r>
            <a:r>
              <a:rPr lang="zh-CN" altLang="en-US"/>
              <a:t>建议时长：</a:t>
            </a:r>
            <a:r>
              <a:rPr lang="en-US" altLang="zh-CN"/>
              <a:t>60 </a:t>
            </a:r>
            <a:r>
              <a:rPr lang="zh-CN" altLang="en-US"/>
              <a:t>秒</a:t>
            </a:r>
            <a:r>
              <a:rPr lang="en-US" altLang="zh-CN"/>
              <a:t>
</a:t>
            </a:r>
            <a:r>
              <a:rPr lang="zh-CN" altLang="en-US"/>
              <a:t>讲稿：</a:t>
            </a:r>
            <a:r>
              <a:rPr lang="en-US" altLang="zh-CN"/>
              <a:t>
</a:t>
            </a:r>
            <a:r>
              <a:rPr lang="zh-CN" altLang="en-US"/>
              <a:t>我实现了距离塑形和额外步惩罚，希望更密集的反馈帮助学习。但三个种子结果中，两种塑形均分都低于</a:t>
            </a:r>
            <a:r>
              <a:rPr lang="en-US" altLang="zh-CN"/>
              <a:t>sparse</a:t>
            </a:r>
            <a:r>
              <a:rPr lang="zh-CN" altLang="en-US"/>
              <a:t>。加步惩罚组的</a:t>
            </a:r>
            <a:r>
              <a:rPr lang="en-US" altLang="zh-CN"/>
              <a:t>Return</a:t>
            </a:r>
            <a:r>
              <a:rPr lang="zh-CN" altLang="en-US"/>
              <a:t>为二百一十六点一六，比</a:t>
            </a:r>
            <a:r>
              <a:rPr lang="en-US" altLang="zh-CN"/>
              <a:t>sparse</a:t>
            </a:r>
            <a:r>
              <a:rPr lang="zh-CN" altLang="en-US"/>
              <a:t>的二百一十一点八七更高，却吃得更少。这是因为奖励定义已经变化，所以跨奖励应该按</a:t>
            </a:r>
            <a:r>
              <a:rPr lang="en-US" altLang="zh-CN"/>
              <a:t>Score</a:t>
            </a:r>
            <a:r>
              <a:rPr lang="zh-CN" altLang="en-US"/>
              <a:t>比较，不能按回报或最高分选优。</a:t>
            </a:r>
            <a:r>
              <a:rPr lang="en-US" altLang="zh-CN"/>
              <a:t>
</a:t>
            </a:r>
            <a:r>
              <a:rPr lang="zh-CN" altLang="en-US"/>
              <a:t>补充说明：</a:t>
            </a:r>
            <a:r>
              <a:rPr lang="en-US" altLang="zh-CN"/>
              <a:t>
</a:t>
            </a:r>
            <a:r>
              <a:rPr lang="zh-CN" altLang="en-US"/>
              <a:t>误差棒为跨训练模型均分的总体</a:t>
            </a:r>
            <a:r>
              <a:rPr lang="en-US" altLang="zh-CN"/>
              <a:t>SD</a:t>
            </a:r>
            <a:r>
              <a:rPr lang="zh-CN" altLang="en-US"/>
              <a:t>，</a:t>
            </a:r>
            <a:r>
              <a:rPr lang="en-US" altLang="zh-CN"/>
              <a:t>3 seeds</a:t>
            </a:r>
            <a:r>
              <a:rPr lang="zh-CN" altLang="en-US"/>
              <a:t>，</a:t>
            </a:r>
            <a:r>
              <a:rPr lang="en-US" altLang="zh-CN"/>
              <a:t>ddof=0</a:t>
            </a:r>
            <a:r>
              <a:rPr lang="zh-CN" altLang="en-US"/>
              <a:t>。距离比较同一个旧食物，碰撞时距离项为</a:t>
            </a:r>
            <a:r>
              <a:rPr lang="en-US" altLang="zh-CN"/>
              <a:t>0</a:t>
            </a:r>
            <a:r>
              <a:rPr lang="zh-CN" altLang="en-US"/>
              <a:t>；步惩罚含终止截断动作。启发式塑形，无策略不变保证。负结果只针对本次固定系数。</a:t>
            </a:r>
            <a:r>
              <a:rPr lang="en-US" altLang="zh-CN"/>
              <a:t>
</a:t>
            </a:r>
            <a:r>
              <a:rPr lang="zh-CN" altLang="en-US"/>
              <a:t>项目事实来源：</a:t>
            </a:r>
            <a:r>
              <a:rPr lang="en-US" altLang="zh-CN"/>
              <a:t>docs/REWARD_EXPERIMENT.md</a:t>
            </a:r>
            <a:r>
              <a:rPr lang="zh-CN" altLang="en-US"/>
              <a:t>；</a:t>
            </a:r>
            <a:r>
              <a:rPr lang="en-US" altLang="zh-CN"/>
              <a:t>results/reward_experiments/reward_v2_20261018_152348_243907_d0be64a1/comparison.json</a:t>
            </a:r>
            <a:r>
              <a:rPr lang="zh-CN" altLang="en-US"/>
              <a:t>。页内统计均以项目正式实验记录为准。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汇报人：</a:t>
            </a:r>
            <a:r>
              <a:rPr lang="en-US" altLang="zh-CN"/>
              <a:t>D
</a:t>
            </a:r>
            <a:r>
              <a:rPr lang="zh-CN" altLang="en-US"/>
              <a:t>建议时长：</a:t>
            </a:r>
            <a:r>
              <a:rPr lang="en-US" altLang="zh-CN"/>
              <a:t>45 </a:t>
            </a:r>
            <a:r>
              <a:rPr lang="zh-CN" altLang="en-US"/>
              <a:t>秒</a:t>
            </a:r>
            <a:r>
              <a:rPr lang="en-US" altLang="zh-CN"/>
              <a:t>
</a:t>
            </a:r>
            <a:r>
              <a:rPr lang="zh-CN" altLang="en-US"/>
              <a:t>讲稿：</a:t>
            </a:r>
            <a:r>
              <a:rPr lang="en-US" altLang="zh-CN"/>
              <a:t>
</a:t>
            </a:r>
            <a:r>
              <a:rPr lang="zh-CN" altLang="en-US"/>
              <a:t>接下来只改变</a:t>
            </a:r>
            <a:r>
              <a:rPr lang="en-US" altLang="zh-CN"/>
              <a:t>epsilon</a:t>
            </a:r>
            <a:r>
              <a:rPr lang="zh-CN" altLang="en-US"/>
              <a:t>的衰减速度。快、默认、慢三组最终均分分别为二十一点三九、二十二点一九和十九点九四。默认方案最高，因此保留零点九九九九。快组训练曲线更早上升，却没有成为更好的最终贪心策略。</a:t>
            </a:r>
            <a:r>
              <a:rPr lang="en-US" altLang="zh-CN"/>
              <a:t>
</a:t>
            </a:r>
            <a:r>
              <a:rPr lang="zh-CN" altLang="en-US"/>
              <a:t>补充说明：</a:t>
            </a:r>
            <a:r>
              <a:rPr lang="en-US" altLang="zh-CN"/>
              <a:t>
</a:t>
            </a:r>
            <a:r>
              <a:rPr lang="zh-CN" altLang="en-US"/>
              <a:t>同一</a:t>
            </a:r>
            <a:r>
              <a:rPr lang="en-US" altLang="zh-CN"/>
              <a:t>epsilon-greedy</a:t>
            </a:r>
            <a:r>
              <a:rPr lang="zh-CN" altLang="en-US"/>
              <a:t>的参数对照，不是三种探索算法。</a:t>
            </a:r>
            <a:r>
              <a:rPr lang="en-US" altLang="zh-CN"/>
              <a:t>3</a:t>
            </a:r>
            <a:r>
              <a:rPr lang="zh-CN" altLang="en-US"/>
              <a:t>训练</a:t>
            </a:r>
            <a:r>
              <a:rPr lang="en-US" altLang="zh-CN"/>
              <a:t>seeds</a:t>
            </a:r>
            <a:r>
              <a:rPr lang="zh-CN" altLang="en-US"/>
              <a:t>，</a:t>
            </a:r>
            <a:r>
              <a:rPr lang="en-US" altLang="zh-CN"/>
              <a:t>SD</a:t>
            </a:r>
            <a:r>
              <a:rPr lang="zh-CN" altLang="en-US"/>
              <a:t>采用</a:t>
            </a:r>
            <a:r>
              <a:rPr lang="en-US" altLang="zh-CN"/>
              <a:t>ddof=0</a:t>
            </a:r>
            <a:r>
              <a:rPr lang="zh-CN" altLang="en-US"/>
              <a:t>。没有证明更快收敛或普遍最优。</a:t>
            </a:r>
            <a:r>
              <a:rPr lang="en-US" altLang="zh-CN"/>
              <a:t>
</a:t>
            </a:r>
            <a:r>
              <a:rPr lang="zh-CN" altLang="en-US"/>
              <a:t>项目事实来源：</a:t>
            </a:r>
            <a:r>
              <a:rPr lang="en-US" altLang="zh-CN"/>
              <a:t>docs/EXPLORATION_EXPERIMENT.md</a:t>
            </a:r>
            <a:r>
              <a:rPr lang="zh-CN" altLang="en-US"/>
              <a:t>。页内统计均以项目正式实验记录为准。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汇报人：</a:t>
            </a:r>
            <a:r>
              <a:rPr lang="en-US" altLang="zh-CN"/>
              <a:t>D
</a:t>
            </a:r>
            <a:r>
              <a:rPr lang="zh-CN" altLang="en-US"/>
              <a:t>建议时长：</a:t>
            </a:r>
            <a:r>
              <a:rPr lang="en-US" altLang="zh-CN"/>
              <a:t>75 </a:t>
            </a:r>
            <a:r>
              <a:rPr lang="zh-CN" altLang="en-US"/>
              <a:t>秒</a:t>
            </a:r>
            <a:r>
              <a:rPr lang="en-US" altLang="zh-CN"/>
              <a:t>
</a:t>
            </a:r>
            <a:r>
              <a:rPr lang="zh-CN" altLang="en-US"/>
              <a:t>讲稿：</a:t>
            </a:r>
            <a:r>
              <a:rPr lang="en-US" altLang="zh-CN"/>
              <a:t>
</a:t>
            </a:r>
            <a:r>
              <a:rPr lang="zh-CN" altLang="en-US"/>
              <a:t>共同配置下</a:t>
            </a:r>
            <a:r>
              <a:rPr lang="en-US" altLang="zh-CN"/>
              <a:t>DQN</a:t>
            </a:r>
            <a:r>
              <a:rPr lang="zh-CN" altLang="en-US"/>
              <a:t>开发均分最高，换一组环境种子复核后排名相同，但不是每个训练种子都领先。前序配置围绕</a:t>
            </a:r>
            <a:r>
              <a:rPr lang="en-US" altLang="zh-CN"/>
              <a:t>DQN</a:t>
            </a:r>
            <a:r>
              <a:rPr lang="zh-CN" altLang="en-US"/>
              <a:t>选择，所以这里不能代表各算法分别调参后的上限。最后冻结</a:t>
            </a:r>
            <a:r>
              <a:rPr lang="en-US" altLang="zh-CN"/>
              <a:t>DQN</a:t>
            </a:r>
            <a:r>
              <a:rPr lang="zh-CN" altLang="en-US"/>
              <a:t>、</a:t>
            </a:r>
            <a:r>
              <a:rPr lang="en-US" altLang="zh-CN"/>
              <a:t>V2</a:t>
            </a:r>
            <a:r>
              <a:rPr lang="zh-CN" altLang="en-US"/>
              <a:t>、稀疏奖励和默认探索，扩展到五个训练种子，再用全新测试集确认。最终均分二十点七六、总体标准差二点六四。保留所有种子，也没有按测试最高分换模型，结果仍有明显波动。</a:t>
            </a:r>
            <a:r>
              <a:rPr lang="en-US" altLang="zh-CN"/>
              <a:t>
</a:t>
            </a:r>
            <a:r>
              <a:rPr lang="zh-CN" altLang="en-US"/>
              <a:t>补充说明：</a:t>
            </a:r>
            <a:r>
              <a:rPr lang="en-US" altLang="zh-CN"/>
              <a:t>
</a:t>
            </a:r>
            <a:r>
              <a:rPr lang="zh-CN" altLang="en-US"/>
              <a:t>上表为</a:t>
            </a:r>
            <a:r>
              <a:rPr lang="en-US" altLang="zh-CN"/>
              <a:t>3</a:t>
            </a:r>
            <a:r>
              <a:rPr lang="zh-CN" altLang="en-US"/>
              <a:t>模型算法对照，下方为</a:t>
            </a:r>
            <a:r>
              <a:rPr lang="en-US" altLang="zh-CN"/>
              <a:t>5</a:t>
            </a:r>
            <a:r>
              <a:rPr lang="zh-CN" altLang="en-US"/>
              <a:t>模型最终确认，不能混算。开发种子</a:t>
            </a:r>
            <a:r>
              <a:rPr lang="en-US" altLang="zh-CN"/>
              <a:t>10000–10049</a:t>
            </a:r>
            <a:r>
              <a:rPr lang="zh-CN" altLang="en-US"/>
              <a:t>，复核</a:t>
            </a:r>
            <a:r>
              <a:rPr lang="en-US" altLang="zh-CN"/>
              <a:t>20000–20049</a:t>
            </a:r>
            <a:r>
              <a:rPr lang="zh-CN" altLang="en-US"/>
              <a:t>，最终</a:t>
            </a:r>
            <a:r>
              <a:rPr lang="en-US" altLang="zh-CN"/>
              <a:t>30000–30049</a:t>
            </a:r>
            <a:r>
              <a:rPr lang="zh-CN" altLang="en-US"/>
              <a:t>。五模型最终均分</a:t>
            </a:r>
            <a:r>
              <a:rPr lang="en-US" altLang="zh-CN"/>
              <a:t>22.78/20.60/16.54/19.66/24.20</a:t>
            </a:r>
            <a:r>
              <a:rPr lang="zh-CN" altLang="en-US"/>
              <a:t>，入口</a:t>
            </a:r>
            <a:r>
              <a:rPr lang="en-US" altLang="zh-CN"/>
              <a:t>seed42</a:t>
            </a:r>
            <a:r>
              <a:rPr lang="zh-CN" altLang="en-US"/>
              <a:t>预先固定。原三模型复用，新增</a:t>
            </a:r>
            <a:r>
              <a:rPr lang="en-US" altLang="zh-CN"/>
              <a:t>45/46</a:t>
            </a:r>
            <a:r>
              <a:rPr lang="zh-CN" altLang="en-US"/>
              <a:t>。</a:t>
            </a:r>
            <a:r>
              <a:rPr lang="en-US" altLang="zh-CN"/>
              <a:t>
</a:t>
            </a:r>
            <a:r>
              <a:rPr lang="zh-CN" altLang="en-US"/>
              <a:t>项目事实来源：</a:t>
            </a:r>
            <a:r>
              <a:rPr lang="en-US" altLang="zh-CN"/>
              <a:t>docs/ALGORITHM_EXPERIMENT.md</a:t>
            </a:r>
            <a:r>
              <a:rPr lang="zh-CN" altLang="en-US"/>
              <a:t>；</a:t>
            </a:r>
            <a:r>
              <a:rPr lang="en-US" altLang="zh-CN"/>
              <a:t>docs/FINAL_EXPERIMENT.md</a:t>
            </a:r>
            <a:r>
              <a:rPr lang="zh-CN" altLang="en-US"/>
              <a:t>。页内统计均以项目正式实验记录为准。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汇报人：</a:t>
            </a:r>
            <a:r>
              <a:rPr lang="en-US" altLang="zh-CN"/>
              <a:t>D
</a:t>
            </a:r>
            <a:r>
              <a:rPr lang="zh-CN" altLang="en-US"/>
              <a:t>建议时长：</a:t>
            </a:r>
            <a:r>
              <a:rPr lang="en-US" altLang="zh-CN"/>
              <a:t>35 </a:t>
            </a:r>
            <a:r>
              <a:rPr lang="zh-CN" altLang="en-US"/>
              <a:t>秒</a:t>
            </a:r>
            <a:r>
              <a:rPr lang="en-US" altLang="zh-CN"/>
              <a:t>
</a:t>
            </a:r>
            <a:r>
              <a:rPr lang="zh-CN" altLang="en-US"/>
              <a:t>讲稿：</a:t>
            </a:r>
            <a:r>
              <a:rPr lang="en-US" altLang="zh-CN"/>
              <a:t>
</a:t>
            </a:r>
            <a:r>
              <a:rPr lang="zh-CN" altLang="en-US"/>
              <a:t>我们完成了统一环境、三种算法，以及状态、奖励、探索对照、交互消融和五种子最终测试。主要性能贡献来自</a:t>
            </a:r>
            <a:r>
              <a:rPr lang="en-US" altLang="zh-CN"/>
              <a:t>V2</a:t>
            </a:r>
            <a:r>
              <a:rPr lang="zh-CN" altLang="en-US"/>
              <a:t>状态表示，而密集奖励和结构改动并不保证提高得分。当前种子和预算仍有限，我们如实保留负结果与限制。谢谢大家。</a:t>
            </a:r>
            <a:r>
              <a:rPr lang="en-US" altLang="zh-CN"/>
              <a:t>
</a:t>
            </a:r>
            <a:r>
              <a:rPr lang="zh-CN" altLang="en-US"/>
              <a:t>补充说明：</a:t>
            </a:r>
            <a:r>
              <a:rPr lang="en-US" altLang="zh-CN"/>
              <a:t>
</a:t>
            </a:r>
            <a:r>
              <a:rPr lang="zh-CN" altLang="en-US"/>
              <a:t>此版没有真实运行录像，不作现场</a:t>
            </a:r>
            <a:r>
              <a:rPr lang="en-US" altLang="zh-CN"/>
              <a:t>Demo</a:t>
            </a:r>
            <a:r>
              <a:rPr lang="zh-CN" altLang="en-US"/>
              <a:t>承诺。完整消融已完成，主讲不展开六格矩阵。</a:t>
            </a:r>
            <a:r>
              <a:rPr lang="en-US" altLang="zh-CN"/>
              <a:t>
</a:t>
            </a:r>
            <a:r>
              <a:rPr lang="zh-CN" altLang="en-US"/>
              <a:t>项目事实来源：</a:t>
            </a:r>
            <a:r>
              <a:rPr lang="en-US" altLang="zh-CN"/>
              <a:t>docs/D_WORK_SUMMARY.md</a:t>
            </a:r>
            <a:r>
              <a:rPr lang="zh-CN" altLang="en-US"/>
              <a:t>；</a:t>
            </a:r>
            <a:r>
              <a:rPr lang="en-US" altLang="zh-CN"/>
              <a:t>docs/STATE_REWARD_ABLATION.md</a:t>
            </a:r>
            <a:r>
              <a:rPr lang="zh-CN" altLang="en-US"/>
              <a:t>；</a:t>
            </a:r>
            <a:r>
              <a:rPr lang="en-US" altLang="zh-CN"/>
              <a:t>docs/FINAL_EXPERIMENT.md</a:t>
            </a:r>
            <a:r>
              <a:rPr lang="zh-CN" altLang="en-US"/>
              <a:t>。页内统计均以项目正式实验记录为准。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2026/10/19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"/>
          <p:cNvSpPr txBox="1"/>
          <p:nvPr/>
        </p:nvSpPr>
        <p:spPr>
          <a:xfrm>
            <a:off x="609600" y="444500"/>
            <a:ext cx="10972800" cy="4616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endParaRPr lang="zh-CN" altLang="en-US" sz="3000" b="1">
              <a:solidFill>
                <a:srgbClr val="2535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_2"/>
          <p:cNvSpPr txBox="1"/>
          <p:nvPr/>
        </p:nvSpPr>
        <p:spPr>
          <a:xfrm>
            <a:off x="10998200" y="6413500"/>
            <a:ext cx="584200" cy="184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altLang="en-US" sz="12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</a:p>
        </p:txBody>
      </p:sp>
      <p:sp>
        <p:nvSpPr>
          <p:cNvPr id="4" name="Text_3"/>
          <p:cNvSpPr txBox="1"/>
          <p:nvPr/>
        </p:nvSpPr>
        <p:spPr>
          <a:xfrm>
            <a:off x="609600" y="1333500"/>
            <a:ext cx="7302500" cy="11074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zh-CN" altLang="en-US" sz="3600" b="1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基于深度强化学习的</a:t>
            </a:r>
            <a:r>
              <a:rPr lang="en-US" altLang="zh-CN" sz="3600" b="1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3600" b="1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贪吃蛇智能体</a:t>
            </a:r>
          </a:p>
        </p:txBody>
      </p:sp>
      <p:sp>
        <p:nvSpPr>
          <p:cNvPr id="5" name="Text_4"/>
          <p:cNvSpPr txBox="1"/>
          <p:nvPr/>
        </p:nvSpPr>
        <p:spPr>
          <a:xfrm>
            <a:off x="609600" y="2933700"/>
            <a:ext cx="6985000" cy="430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zh-CN" altLang="en-US" sz="28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</a:rPr>
              <a:t>设计与实验研究</a:t>
            </a:r>
          </a:p>
        </p:txBody>
      </p:sp>
      <p:sp>
        <p:nvSpPr>
          <p:cNvPr id="6" name="Text_5"/>
          <p:cNvSpPr txBox="1"/>
          <p:nvPr/>
        </p:nvSpPr>
        <p:spPr>
          <a:xfrm>
            <a:off x="609600" y="3898900"/>
            <a:ext cx="7429500" cy="3384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altLang="en-US" sz="22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</a:rPr>
              <a:t>DQN / Double DQN / Dueling DQN</a:t>
            </a:r>
          </a:p>
        </p:txBody>
      </p:sp>
      <p:sp>
        <p:nvSpPr>
          <p:cNvPr id="7" name="Text_6"/>
          <p:cNvSpPr txBox="1"/>
          <p:nvPr/>
        </p:nvSpPr>
        <p:spPr>
          <a:xfrm>
            <a:off x="609600" y="4826000"/>
            <a:ext cx="7112000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zh-CN" altLang="en-US" sz="20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</a:rPr>
              <a:t>强化学习课程小组汇报</a:t>
            </a:r>
          </a:p>
        </p:txBody>
      </p:sp>
      <p:sp>
        <p:nvSpPr>
          <p:cNvPr id="8" name="Text_7"/>
          <p:cNvSpPr txBox="1"/>
          <p:nvPr/>
        </p:nvSpPr>
        <p:spPr>
          <a:xfrm>
            <a:off x="609600" y="5384800"/>
            <a:ext cx="7366000" cy="2921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zh-CN" altLang="en-US" sz="19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</a:rPr>
              <a:t>潘明东、张欣怡、张娄瑞、周欣语</a:t>
            </a:r>
          </a:p>
        </p:txBody>
      </p:sp>
      <p:sp>
        <p:nvSpPr>
          <p:cNvPr id="9" name="Text_8"/>
          <p:cNvSpPr txBox="1"/>
          <p:nvPr/>
        </p:nvSpPr>
        <p:spPr>
          <a:xfrm>
            <a:off x="609600" y="5943600"/>
            <a:ext cx="5080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</a:t>
            </a:r>
            <a:r>
              <a:rPr lang="zh-CN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en-US" altLang="zh-CN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 </a:t>
            </a:r>
            <a:r>
              <a:rPr lang="zh-CN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</a:p>
        </p:txBody>
      </p:sp>
      <p:sp>
        <p:nvSpPr>
          <p:cNvPr id="10" name="矩形 9"/>
          <p:cNvSpPr/>
          <p:nvPr/>
        </p:nvSpPr>
        <p:spPr>
          <a:xfrm>
            <a:off x="8382000" y="19050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674100" y="19050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8966200" y="19050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9258300" y="19050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9550400" y="19050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9842500" y="19050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0134600" y="19050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10426700" y="19050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10718800" y="19050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11010900" y="19050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382000" y="21971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8674100" y="21971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8966200" y="21971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9258300" y="21971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9550400" y="21971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9842500" y="21971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10134600" y="21971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10426700" y="21971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10718800" y="21971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11010900" y="21971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8382000" y="24892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8674100" y="24892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8966200" y="24892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9258300" y="24892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9550400" y="24892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9842500" y="24892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10134600" y="24892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10426700" y="2489200"/>
            <a:ext cx="292100" cy="292100"/>
          </a:xfrm>
          <a:prstGeom prst="rect">
            <a:avLst/>
          </a:prstGeom>
          <a:solidFill>
            <a:srgbClr val="D97568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10718800" y="24892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/>
          <p:cNvSpPr/>
          <p:nvPr/>
        </p:nvSpPr>
        <p:spPr>
          <a:xfrm>
            <a:off x="11010900" y="24892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8382000" y="27813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8674100" y="27813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8966200" y="27813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9258300" y="27813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9550400" y="27813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/>
          <p:cNvSpPr/>
          <p:nvPr/>
        </p:nvSpPr>
        <p:spPr>
          <a:xfrm>
            <a:off x="9842500" y="27813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/>
          <p:cNvSpPr/>
          <p:nvPr/>
        </p:nvSpPr>
        <p:spPr>
          <a:xfrm>
            <a:off x="10134600" y="27813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/>
          <p:cNvSpPr/>
          <p:nvPr/>
        </p:nvSpPr>
        <p:spPr>
          <a:xfrm>
            <a:off x="10426700" y="27813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 47"/>
          <p:cNvSpPr/>
          <p:nvPr/>
        </p:nvSpPr>
        <p:spPr>
          <a:xfrm>
            <a:off x="10718800" y="27813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11010900" y="27813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/>
          <p:cNvSpPr/>
          <p:nvPr/>
        </p:nvSpPr>
        <p:spPr>
          <a:xfrm>
            <a:off x="8382000" y="30734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/>
          <p:cNvSpPr/>
          <p:nvPr/>
        </p:nvSpPr>
        <p:spPr>
          <a:xfrm>
            <a:off x="8674100" y="30734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/>
          <p:cNvSpPr/>
          <p:nvPr/>
        </p:nvSpPr>
        <p:spPr>
          <a:xfrm>
            <a:off x="8966200" y="30734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 52"/>
          <p:cNvSpPr/>
          <p:nvPr/>
        </p:nvSpPr>
        <p:spPr>
          <a:xfrm>
            <a:off x="9258300" y="30734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9550400" y="30734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 54"/>
          <p:cNvSpPr/>
          <p:nvPr/>
        </p:nvSpPr>
        <p:spPr>
          <a:xfrm>
            <a:off x="9842500" y="30734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 55"/>
          <p:cNvSpPr/>
          <p:nvPr/>
        </p:nvSpPr>
        <p:spPr>
          <a:xfrm>
            <a:off x="10134600" y="30734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10426700" y="30734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/>
          <p:cNvSpPr/>
          <p:nvPr/>
        </p:nvSpPr>
        <p:spPr>
          <a:xfrm>
            <a:off x="10718800" y="30734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 58"/>
          <p:cNvSpPr/>
          <p:nvPr/>
        </p:nvSpPr>
        <p:spPr>
          <a:xfrm>
            <a:off x="11010900" y="30734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 59"/>
          <p:cNvSpPr/>
          <p:nvPr/>
        </p:nvSpPr>
        <p:spPr>
          <a:xfrm>
            <a:off x="8382000" y="33655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/>
          <p:cNvSpPr/>
          <p:nvPr/>
        </p:nvSpPr>
        <p:spPr>
          <a:xfrm>
            <a:off x="8674100" y="33655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矩形 61"/>
          <p:cNvSpPr/>
          <p:nvPr/>
        </p:nvSpPr>
        <p:spPr>
          <a:xfrm>
            <a:off x="8966200" y="33655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 62"/>
          <p:cNvSpPr/>
          <p:nvPr/>
        </p:nvSpPr>
        <p:spPr>
          <a:xfrm>
            <a:off x="9258300" y="3365500"/>
            <a:ext cx="292100" cy="292100"/>
          </a:xfrm>
          <a:prstGeom prst="rect">
            <a:avLst/>
          </a:prstGeom>
          <a:solidFill>
            <a:srgbClr val="81B9A2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>
            <a:off x="9550400" y="3365500"/>
            <a:ext cx="292100" cy="292100"/>
          </a:xfrm>
          <a:prstGeom prst="rect">
            <a:avLst/>
          </a:prstGeom>
          <a:solidFill>
            <a:srgbClr val="81B9A2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/>
          <p:cNvSpPr/>
          <p:nvPr/>
        </p:nvSpPr>
        <p:spPr>
          <a:xfrm>
            <a:off x="9842500" y="3365500"/>
            <a:ext cx="292100" cy="292100"/>
          </a:xfrm>
          <a:prstGeom prst="rect">
            <a:avLst/>
          </a:prstGeom>
          <a:solidFill>
            <a:srgbClr val="16856A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 65"/>
          <p:cNvSpPr/>
          <p:nvPr/>
        </p:nvSpPr>
        <p:spPr>
          <a:xfrm>
            <a:off x="10134600" y="33655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10426700" y="33655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10718800" y="33655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 68"/>
          <p:cNvSpPr/>
          <p:nvPr/>
        </p:nvSpPr>
        <p:spPr>
          <a:xfrm>
            <a:off x="11010900" y="33655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 69"/>
          <p:cNvSpPr/>
          <p:nvPr/>
        </p:nvSpPr>
        <p:spPr>
          <a:xfrm>
            <a:off x="8382000" y="36576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8674100" y="36576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8966200" y="36576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9258300" y="3657600"/>
            <a:ext cx="292100" cy="292100"/>
          </a:xfrm>
          <a:prstGeom prst="rect">
            <a:avLst/>
          </a:prstGeom>
          <a:solidFill>
            <a:srgbClr val="81B9A2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9550400" y="36576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9842500" y="36576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10134600" y="36576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矩形 76"/>
          <p:cNvSpPr/>
          <p:nvPr/>
        </p:nvSpPr>
        <p:spPr>
          <a:xfrm>
            <a:off x="10426700" y="36576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矩形 77"/>
          <p:cNvSpPr/>
          <p:nvPr/>
        </p:nvSpPr>
        <p:spPr>
          <a:xfrm>
            <a:off x="10718800" y="36576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 78"/>
          <p:cNvSpPr/>
          <p:nvPr/>
        </p:nvSpPr>
        <p:spPr>
          <a:xfrm>
            <a:off x="11010900" y="36576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 79"/>
          <p:cNvSpPr/>
          <p:nvPr/>
        </p:nvSpPr>
        <p:spPr>
          <a:xfrm>
            <a:off x="8382000" y="39497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矩形 80"/>
          <p:cNvSpPr/>
          <p:nvPr/>
        </p:nvSpPr>
        <p:spPr>
          <a:xfrm>
            <a:off x="8674100" y="39497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矩形 81"/>
          <p:cNvSpPr/>
          <p:nvPr/>
        </p:nvSpPr>
        <p:spPr>
          <a:xfrm>
            <a:off x="8966200" y="3949700"/>
            <a:ext cx="292100" cy="292100"/>
          </a:xfrm>
          <a:prstGeom prst="rect">
            <a:avLst/>
          </a:prstGeom>
          <a:solidFill>
            <a:srgbClr val="81B9A2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矩形 82"/>
          <p:cNvSpPr/>
          <p:nvPr/>
        </p:nvSpPr>
        <p:spPr>
          <a:xfrm>
            <a:off x="9258300" y="3949700"/>
            <a:ext cx="292100" cy="292100"/>
          </a:xfrm>
          <a:prstGeom prst="rect">
            <a:avLst/>
          </a:prstGeom>
          <a:solidFill>
            <a:srgbClr val="81B9A2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矩形 83"/>
          <p:cNvSpPr/>
          <p:nvPr/>
        </p:nvSpPr>
        <p:spPr>
          <a:xfrm>
            <a:off x="9550400" y="39497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矩形 84"/>
          <p:cNvSpPr/>
          <p:nvPr/>
        </p:nvSpPr>
        <p:spPr>
          <a:xfrm>
            <a:off x="9842500" y="39497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矩形 85"/>
          <p:cNvSpPr/>
          <p:nvPr/>
        </p:nvSpPr>
        <p:spPr>
          <a:xfrm>
            <a:off x="10134600" y="39497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矩形 86"/>
          <p:cNvSpPr/>
          <p:nvPr/>
        </p:nvSpPr>
        <p:spPr>
          <a:xfrm>
            <a:off x="10426700" y="39497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矩形 87"/>
          <p:cNvSpPr/>
          <p:nvPr/>
        </p:nvSpPr>
        <p:spPr>
          <a:xfrm>
            <a:off x="10718800" y="39497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矩形 88"/>
          <p:cNvSpPr/>
          <p:nvPr/>
        </p:nvSpPr>
        <p:spPr>
          <a:xfrm>
            <a:off x="11010900" y="39497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矩形 89"/>
          <p:cNvSpPr/>
          <p:nvPr/>
        </p:nvSpPr>
        <p:spPr>
          <a:xfrm>
            <a:off x="8382000" y="42418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 90"/>
          <p:cNvSpPr/>
          <p:nvPr/>
        </p:nvSpPr>
        <p:spPr>
          <a:xfrm>
            <a:off x="8674100" y="42418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矩形 91"/>
          <p:cNvSpPr/>
          <p:nvPr/>
        </p:nvSpPr>
        <p:spPr>
          <a:xfrm>
            <a:off x="8966200" y="42418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矩形 92"/>
          <p:cNvSpPr/>
          <p:nvPr/>
        </p:nvSpPr>
        <p:spPr>
          <a:xfrm>
            <a:off x="9258300" y="42418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矩形 93"/>
          <p:cNvSpPr/>
          <p:nvPr/>
        </p:nvSpPr>
        <p:spPr>
          <a:xfrm>
            <a:off x="9550400" y="42418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矩形 94"/>
          <p:cNvSpPr/>
          <p:nvPr/>
        </p:nvSpPr>
        <p:spPr>
          <a:xfrm>
            <a:off x="9842500" y="42418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矩形 95"/>
          <p:cNvSpPr/>
          <p:nvPr/>
        </p:nvSpPr>
        <p:spPr>
          <a:xfrm>
            <a:off x="10134600" y="42418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矩形 96"/>
          <p:cNvSpPr/>
          <p:nvPr/>
        </p:nvSpPr>
        <p:spPr>
          <a:xfrm>
            <a:off x="10426700" y="42418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矩形 97"/>
          <p:cNvSpPr/>
          <p:nvPr/>
        </p:nvSpPr>
        <p:spPr>
          <a:xfrm>
            <a:off x="10718800" y="42418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矩形 98"/>
          <p:cNvSpPr/>
          <p:nvPr/>
        </p:nvSpPr>
        <p:spPr>
          <a:xfrm>
            <a:off x="11010900" y="42418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矩形 99"/>
          <p:cNvSpPr/>
          <p:nvPr/>
        </p:nvSpPr>
        <p:spPr>
          <a:xfrm>
            <a:off x="8382000" y="45339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矩形 100"/>
          <p:cNvSpPr/>
          <p:nvPr/>
        </p:nvSpPr>
        <p:spPr>
          <a:xfrm>
            <a:off x="8674100" y="45339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矩形 101"/>
          <p:cNvSpPr/>
          <p:nvPr/>
        </p:nvSpPr>
        <p:spPr>
          <a:xfrm>
            <a:off x="8966200" y="45339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矩形 102"/>
          <p:cNvSpPr/>
          <p:nvPr/>
        </p:nvSpPr>
        <p:spPr>
          <a:xfrm>
            <a:off x="9258300" y="45339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矩形 103"/>
          <p:cNvSpPr/>
          <p:nvPr/>
        </p:nvSpPr>
        <p:spPr>
          <a:xfrm>
            <a:off x="9550400" y="45339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矩形 104"/>
          <p:cNvSpPr/>
          <p:nvPr/>
        </p:nvSpPr>
        <p:spPr>
          <a:xfrm>
            <a:off x="9842500" y="45339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矩形 105"/>
          <p:cNvSpPr/>
          <p:nvPr/>
        </p:nvSpPr>
        <p:spPr>
          <a:xfrm>
            <a:off x="10134600" y="45339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矩形 106"/>
          <p:cNvSpPr/>
          <p:nvPr/>
        </p:nvSpPr>
        <p:spPr>
          <a:xfrm>
            <a:off x="10426700" y="45339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" name="矩形 107"/>
          <p:cNvSpPr/>
          <p:nvPr/>
        </p:nvSpPr>
        <p:spPr>
          <a:xfrm>
            <a:off x="10718800" y="45339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矩形 108"/>
          <p:cNvSpPr/>
          <p:nvPr/>
        </p:nvSpPr>
        <p:spPr>
          <a:xfrm>
            <a:off x="11010900" y="4533900"/>
            <a:ext cx="292100" cy="2921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" name="Text_109"/>
          <p:cNvSpPr txBox="1"/>
          <p:nvPr/>
        </p:nvSpPr>
        <p:spPr>
          <a:xfrm>
            <a:off x="8382000" y="4978400"/>
            <a:ext cx="292100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zh-CN" altLang="en-US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</a:rPr>
              <a:t>环境示意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"/>
          <p:cNvSpPr txBox="1"/>
          <p:nvPr/>
        </p:nvSpPr>
        <p:spPr>
          <a:xfrm>
            <a:off x="609600" y="444500"/>
            <a:ext cx="10972800" cy="4616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zh-CN" altLang="en-US" sz="3000" b="1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</a:rPr>
              <a:t>环境与强化学习建模</a:t>
            </a:r>
          </a:p>
        </p:txBody>
      </p:sp>
      <p:sp>
        <p:nvSpPr>
          <p:cNvPr id="3" name="Text_2"/>
          <p:cNvSpPr txBox="1"/>
          <p:nvPr/>
        </p:nvSpPr>
        <p:spPr>
          <a:xfrm>
            <a:off x="609600" y="1168400"/>
            <a:ext cx="109728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zh-CN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</a:rPr>
              <a:t>稀疏反馈与动态蛇身，使简单规则形成长期决策问题</a:t>
            </a:r>
          </a:p>
        </p:txBody>
      </p:sp>
      <p:sp>
        <p:nvSpPr>
          <p:cNvPr id="4" name="Text_3"/>
          <p:cNvSpPr txBox="1"/>
          <p:nvPr/>
        </p:nvSpPr>
        <p:spPr>
          <a:xfrm>
            <a:off x="10998200" y="6413500"/>
            <a:ext cx="584200" cy="184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altLang="en-US" sz="12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</a:p>
        </p:txBody>
      </p:sp>
      <p:sp>
        <p:nvSpPr>
          <p:cNvPr id="5" name="矩形 4"/>
          <p:cNvSpPr/>
          <p:nvPr/>
        </p:nvSpPr>
        <p:spPr>
          <a:xfrm>
            <a:off x="609600" y="19939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952500" y="19939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295400" y="19939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638300" y="19939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981200" y="19939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2324100" y="19939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2667000" y="19939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009900" y="19939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3352800" y="19939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3695700" y="19939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9600" y="23368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952500" y="23368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1295400" y="23368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1638300" y="23368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1981200" y="23368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2324100" y="23368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2667000" y="23368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3009900" y="23368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3352800" y="23368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3695700" y="23368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609600" y="26797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952500" y="26797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1295400" y="26797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1638300" y="26797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1981200" y="26797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2324100" y="26797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2667000" y="26797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3009900" y="2679700"/>
            <a:ext cx="342900" cy="342900"/>
          </a:xfrm>
          <a:prstGeom prst="rect">
            <a:avLst/>
          </a:prstGeom>
          <a:solidFill>
            <a:srgbClr val="D97568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3352800" y="26797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3695700" y="26797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609600" y="30226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952500" y="30226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1295400" y="30226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1638300" y="30226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/>
          <p:cNvSpPr/>
          <p:nvPr/>
        </p:nvSpPr>
        <p:spPr>
          <a:xfrm>
            <a:off x="1981200" y="30226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2324100" y="30226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2667000" y="30226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3009900" y="30226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3352800" y="30226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3695700" y="30226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/>
          <p:cNvSpPr/>
          <p:nvPr/>
        </p:nvSpPr>
        <p:spPr>
          <a:xfrm>
            <a:off x="609600" y="33655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/>
          <p:cNvSpPr/>
          <p:nvPr/>
        </p:nvSpPr>
        <p:spPr>
          <a:xfrm>
            <a:off x="952500" y="33655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/>
          <p:cNvSpPr/>
          <p:nvPr/>
        </p:nvSpPr>
        <p:spPr>
          <a:xfrm>
            <a:off x="1295400" y="33655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 47"/>
          <p:cNvSpPr/>
          <p:nvPr/>
        </p:nvSpPr>
        <p:spPr>
          <a:xfrm>
            <a:off x="1638300" y="33655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1981200" y="33655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/>
          <p:cNvSpPr/>
          <p:nvPr/>
        </p:nvSpPr>
        <p:spPr>
          <a:xfrm>
            <a:off x="2324100" y="33655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/>
          <p:cNvSpPr/>
          <p:nvPr/>
        </p:nvSpPr>
        <p:spPr>
          <a:xfrm>
            <a:off x="2667000" y="33655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/>
          <p:cNvSpPr/>
          <p:nvPr/>
        </p:nvSpPr>
        <p:spPr>
          <a:xfrm>
            <a:off x="3009900" y="33655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 52"/>
          <p:cNvSpPr/>
          <p:nvPr/>
        </p:nvSpPr>
        <p:spPr>
          <a:xfrm>
            <a:off x="3352800" y="33655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3695700" y="33655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 54"/>
          <p:cNvSpPr/>
          <p:nvPr/>
        </p:nvSpPr>
        <p:spPr>
          <a:xfrm>
            <a:off x="609600" y="37084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 55"/>
          <p:cNvSpPr/>
          <p:nvPr/>
        </p:nvSpPr>
        <p:spPr>
          <a:xfrm>
            <a:off x="952500" y="37084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1295400" y="37084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/>
          <p:cNvSpPr/>
          <p:nvPr/>
        </p:nvSpPr>
        <p:spPr>
          <a:xfrm>
            <a:off x="1638300" y="3708400"/>
            <a:ext cx="342900" cy="342900"/>
          </a:xfrm>
          <a:prstGeom prst="rect">
            <a:avLst/>
          </a:prstGeom>
          <a:solidFill>
            <a:srgbClr val="81B9A2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 58"/>
          <p:cNvSpPr/>
          <p:nvPr/>
        </p:nvSpPr>
        <p:spPr>
          <a:xfrm>
            <a:off x="1981200" y="3708400"/>
            <a:ext cx="342900" cy="342900"/>
          </a:xfrm>
          <a:prstGeom prst="rect">
            <a:avLst/>
          </a:prstGeom>
          <a:solidFill>
            <a:srgbClr val="81B9A2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 59"/>
          <p:cNvSpPr/>
          <p:nvPr/>
        </p:nvSpPr>
        <p:spPr>
          <a:xfrm>
            <a:off x="2324100" y="3708400"/>
            <a:ext cx="342900" cy="342900"/>
          </a:xfrm>
          <a:prstGeom prst="rect">
            <a:avLst/>
          </a:prstGeom>
          <a:solidFill>
            <a:srgbClr val="16856A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/>
          <p:cNvSpPr/>
          <p:nvPr/>
        </p:nvSpPr>
        <p:spPr>
          <a:xfrm>
            <a:off x="2667000" y="37084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矩形 61"/>
          <p:cNvSpPr/>
          <p:nvPr/>
        </p:nvSpPr>
        <p:spPr>
          <a:xfrm>
            <a:off x="3009900" y="37084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 62"/>
          <p:cNvSpPr/>
          <p:nvPr/>
        </p:nvSpPr>
        <p:spPr>
          <a:xfrm>
            <a:off x="3352800" y="37084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>
            <a:off x="3695700" y="37084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/>
          <p:cNvSpPr/>
          <p:nvPr/>
        </p:nvSpPr>
        <p:spPr>
          <a:xfrm>
            <a:off x="609600" y="40513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 65"/>
          <p:cNvSpPr/>
          <p:nvPr/>
        </p:nvSpPr>
        <p:spPr>
          <a:xfrm>
            <a:off x="952500" y="40513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1295400" y="40513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1638300" y="4051300"/>
            <a:ext cx="342900" cy="342900"/>
          </a:xfrm>
          <a:prstGeom prst="rect">
            <a:avLst/>
          </a:prstGeom>
          <a:solidFill>
            <a:srgbClr val="81B9A2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 68"/>
          <p:cNvSpPr/>
          <p:nvPr/>
        </p:nvSpPr>
        <p:spPr>
          <a:xfrm>
            <a:off x="1981200" y="40513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 69"/>
          <p:cNvSpPr/>
          <p:nvPr/>
        </p:nvSpPr>
        <p:spPr>
          <a:xfrm>
            <a:off x="2324100" y="40513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2667000" y="40513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3009900" y="40513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3352800" y="40513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3695700" y="40513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609600" y="43942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952500" y="43942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矩形 76"/>
          <p:cNvSpPr/>
          <p:nvPr/>
        </p:nvSpPr>
        <p:spPr>
          <a:xfrm>
            <a:off x="1295400" y="4394200"/>
            <a:ext cx="342900" cy="342900"/>
          </a:xfrm>
          <a:prstGeom prst="rect">
            <a:avLst/>
          </a:prstGeom>
          <a:solidFill>
            <a:srgbClr val="81B9A2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矩形 77"/>
          <p:cNvSpPr/>
          <p:nvPr/>
        </p:nvSpPr>
        <p:spPr>
          <a:xfrm>
            <a:off x="1638300" y="4394200"/>
            <a:ext cx="342900" cy="342900"/>
          </a:xfrm>
          <a:prstGeom prst="rect">
            <a:avLst/>
          </a:prstGeom>
          <a:solidFill>
            <a:srgbClr val="81B9A2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 78"/>
          <p:cNvSpPr/>
          <p:nvPr/>
        </p:nvSpPr>
        <p:spPr>
          <a:xfrm>
            <a:off x="1981200" y="43942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 79"/>
          <p:cNvSpPr/>
          <p:nvPr/>
        </p:nvSpPr>
        <p:spPr>
          <a:xfrm>
            <a:off x="2324100" y="43942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矩形 80"/>
          <p:cNvSpPr/>
          <p:nvPr/>
        </p:nvSpPr>
        <p:spPr>
          <a:xfrm>
            <a:off x="2667000" y="43942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矩形 81"/>
          <p:cNvSpPr/>
          <p:nvPr/>
        </p:nvSpPr>
        <p:spPr>
          <a:xfrm>
            <a:off x="3009900" y="43942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矩形 82"/>
          <p:cNvSpPr/>
          <p:nvPr/>
        </p:nvSpPr>
        <p:spPr>
          <a:xfrm>
            <a:off x="3352800" y="43942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矩形 83"/>
          <p:cNvSpPr/>
          <p:nvPr/>
        </p:nvSpPr>
        <p:spPr>
          <a:xfrm>
            <a:off x="3695700" y="43942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矩形 84"/>
          <p:cNvSpPr/>
          <p:nvPr/>
        </p:nvSpPr>
        <p:spPr>
          <a:xfrm>
            <a:off x="609600" y="47371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矩形 85"/>
          <p:cNvSpPr/>
          <p:nvPr/>
        </p:nvSpPr>
        <p:spPr>
          <a:xfrm>
            <a:off x="952500" y="47371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矩形 86"/>
          <p:cNvSpPr/>
          <p:nvPr/>
        </p:nvSpPr>
        <p:spPr>
          <a:xfrm>
            <a:off x="1295400" y="47371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矩形 87"/>
          <p:cNvSpPr/>
          <p:nvPr/>
        </p:nvSpPr>
        <p:spPr>
          <a:xfrm>
            <a:off x="1638300" y="47371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矩形 88"/>
          <p:cNvSpPr/>
          <p:nvPr/>
        </p:nvSpPr>
        <p:spPr>
          <a:xfrm>
            <a:off x="1981200" y="47371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矩形 89"/>
          <p:cNvSpPr/>
          <p:nvPr/>
        </p:nvSpPr>
        <p:spPr>
          <a:xfrm>
            <a:off x="2324100" y="47371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 90"/>
          <p:cNvSpPr/>
          <p:nvPr/>
        </p:nvSpPr>
        <p:spPr>
          <a:xfrm>
            <a:off x="2667000" y="47371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矩形 91"/>
          <p:cNvSpPr/>
          <p:nvPr/>
        </p:nvSpPr>
        <p:spPr>
          <a:xfrm>
            <a:off x="3009900" y="47371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矩形 92"/>
          <p:cNvSpPr/>
          <p:nvPr/>
        </p:nvSpPr>
        <p:spPr>
          <a:xfrm>
            <a:off x="3352800" y="47371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矩形 93"/>
          <p:cNvSpPr/>
          <p:nvPr/>
        </p:nvSpPr>
        <p:spPr>
          <a:xfrm>
            <a:off x="3695700" y="47371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矩形 94"/>
          <p:cNvSpPr/>
          <p:nvPr/>
        </p:nvSpPr>
        <p:spPr>
          <a:xfrm>
            <a:off x="609600" y="50800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矩形 95"/>
          <p:cNvSpPr/>
          <p:nvPr/>
        </p:nvSpPr>
        <p:spPr>
          <a:xfrm>
            <a:off x="952500" y="50800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矩形 96"/>
          <p:cNvSpPr/>
          <p:nvPr/>
        </p:nvSpPr>
        <p:spPr>
          <a:xfrm>
            <a:off x="1295400" y="50800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矩形 97"/>
          <p:cNvSpPr/>
          <p:nvPr/>
        </p:nvSpPr>
        <p:spPr>
          <a:xfrm>
            <a:off x="1638300" y="50800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矩形 98"/>
          <p:cNvSpPr/>
          <p:nvPr/>
        </p:nvSpPr>
        <p:spPr>
          <a:xfrm>
            <a:off x="1981200" y="50800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矩形 99"/>
          <p:cNvSpPr/>
          <p:nvPr/>
        </p:nvSpPr>
        <p:spPr>
          <a:xfrm>
            <a:off x="2324100" y="50800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矩形 100"/>
          <p:cNvSpPr/>
          <p:nvPr/>
        </p:nvSpPr>
        <p:spPr>
          <a:xfrm>
            <a:off x="2667000" y="50800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矩形 101"/>
          <p:cNvSpPr/>
          <p:nvPr/>
        </p:nvSpPr>
        <p:spPr>
          <a:xfrm>
            <a:off x="3009900" y="50800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矩形 102"/>
          <p:cNvSpPr/>
          <p:nvPr/>
        </p:nvSpPr>
        <p:spPr>
          <a:xfrm>
            <a:off x="3352800" y="50800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矩形 103"/>
          <p:cNvSpPr/>
          <p:nvPr/>
        </p:nvSpPr>
        <p:spPr>
          <a:xfrm>
            <a:off x="3695700" y="5080000"/>
            <a:ext cx="342900" cy="3429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Text_104"/>
          <p:cNvSpPr txBox="1"/>
          <p:nvPr/>
        </p:nvSpPr>
        <p:spPr>
          <a:xfrm>
            <a:off x="609600" y="5575300"/>
            <a:ext cx="342900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zh-CN" altLang="en-US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</a:rPr>
              <a:t>环境示意</a:t>
            </a:r>
          </a:p>
        </p:txBody>
      </p:sp>
      <p:sp>
        <p:nvSpPr>
          <p:cNvPr id="106" name="Text_105"/>
          <p:cNvSpPr txBox="1"/>
          <p:nvPr/>
        </p:nvSpPr>
        <p:spPr>
          <a:xfrm>
            <a:off x="4749800" y="1968500"/>
            <a:ext cx="6832600" cy="10153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altLang="en-US" sz="22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r>
              <a:rPr lang="zh-CN" altLang="en-US" sz="22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r>
              <a:rPr lang="en-US" altLang="zh-CN" sz="22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 </a:t>
            </a:r>
            <a:r>
              <a:rPr lang="zh-CN" altLang="en-US" sz="22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棋盘，初始蛇长</a:t>
            </a:r>
            <a:r>
              <a:rPr lang="en-US" altLang="zh-CN" sz="22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
</a:t>
            </a:r>
            <a:r>
              <a:rPr lang="zh-CN" altLang="en-US" sz="22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动作：直行、左转、右转</a:t>
            </a:r>
            <a:r>
              <a:rPr lang="en-US" altLang="zh-CN" sz="22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22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奖励：食物</a:t>
            </a:r>
            <a:r>
              <a:rPr lang="en-US" altLang="zh-CN" sz="22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+10</a:t>
            </a:r>
            <a:r>
              <a:rPr lang="zh-CN" altLang="en-US" sz="22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，死亡</a:t>
            </a:r>
            <a:r>
              <a:rPr lang="en-US" altLang="zh-CN" sz="22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−10</a:t>
            </a:r>
            <a:r>
              <a:rPr lang="zh-CN" altLang="en-US" sz="22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，移动</a:t>
            </a:r>
            <a:r>
              <a:rPr lang="en-US" altLang="zh-CN" sz="22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</a:t>
            </a:r>
          </a:p>
        </p:txBody>
      </p:sp>
      <p:sp>
        <p:nvSpPr>
          <p:cNvPr id="107" name="矩形 106"/>
          <p:cNvSpPr/>
          <p:nvPr/>
        </p:nvSpPr>
        <p:spPr>
          <a:xfrm>
            <a:off x="4749800" y="4064000"/>
            <a:ext cx="1778000" cy="812800"/>
          </a:xfrm>
          <a:prstGeom prst="rect">
            <a:avLst/>
          </a:prstGeom>
          <a:solidFill>
            <a:srgbClr val="EAF4E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" name="Text_107"/>
          <p:cNvSpPr txBox="1"/>
          <p:nvPr/>
        </p:nvSpPr>
        <p:spPr>
          <a:xfrm>
            <a:off x="4851400" y="4335670"/>
            <a:ext cx="1574800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zh-CN" altLang="en-US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</a:rPr>
              <a:t>观测</a:t>
            </a:r>
          </a:p>
        </p:txBody>
      </p:sp>
      <p:sp>
        <p:nvSpPr>
          <p:cNvPr id="109" name="矩形 108"/>
          <p:cNvSpPr/>
          <p:nvPr/>
        </p:nvSpPr>
        <p:spPr>
          <a:xfrm>
            <a:off x="7239000" y="4064000"/>
            <a:ext cx="1778000" cy="812800"/>
          </a:xfrm>
          <a:prstGeom prst="rect">
            <a:avLst/>
          </a:prstGeom>
          <a:solidFill>
            <a:srgbClr val="EAF4E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" name="Text_109"/>
          <p:cNvSpPr txBox="1"/>
          <p:nvPr/>
        </p:nvSpPr>
        <p:spPr>
          <a:xfrm>
            <a:off x="7366002" y="4335670"/>
            <a:ext cx="1574800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zh-CN" altLang="en-US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</a:rPr>
              <a:t>动作</a:t>
            </a:r>
          </a:p>
        </p:txBody>
      </p:sp>
      <p:sp>
        <p:nvSpPr>
          <p:cNvPr id="111" name="矩形 110"/>
          <p:cNvSpPr/>
          <p:nvPr/>
        </p:nvSpPr>
        <p:spPr>
          <a:xfrm>
            <a:off x="9728200" y="4064000"/>
            <a:ext cx="1854200" cy="812800"/>
          </a:xfrm>
          <a:prstGeom prst="rect">
            <a:avLst/>
          </a:prstGeom>
          <a:solidFill>
            <a:srgbClr val="EAF4E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Text_111"/>
          <p:cNvSpPr txBox="1"/>
          <p:nvPr/>
        </p:nvSpPr>
        <p:spPr>
          <a:xfrm>
            <a:off x="9867900" y="4322418"/>
            <a:ext cx="1651000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zh-CN" altLang="en-US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奖励</a:t>
            </a:r>
            <a:r>
              <a:rPr lang="en-US" altLang="zh-CN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新观测</a:t>
            </a:r>
          </a:p>
        </p:txBody>
      </p:sp>
      <p:cxnSp>
        <p:nvCxnSpPr>
          <p:cNvPr id="113" name="直接连接符 112"/>
          <p:cNvCxnSpPr/>
          <p:nvPr/>
        </p:nvCxnSpPr>
        <p:spPr>
          <a:xfrm>
            <a:off x="6629400" y="4470400"/>
            <a:ext cx="469900" cy="635"/>
          </a:xfrm>
          <a:prstGeom prst="line">
            <a:avLst/>
          </a:prstGeom>
          <a:ln w="17780">
            <a:solidFill>
              <a:srgbClr val="16856A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4" name="直接连接符 113"/>
          <p:cNvCxnSpPr/>
          <p:nvPr/>
        </p:nvCxnSpPr>
        <p:spPr>
          <a:xfrm>
            <a:off x="9118600" y="4470400"/>
            <a:ext cx="469900" cy="635"/>
          </a:xfrm>
          <a:prstGeom prst="line">
            <a:avLst/>
          </a:prstGeom>
          <a:ln w="17780">
            <a:solidFill>
              <a:srgbClr val="16856A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5" name="Text_114"/>
          <p:cNvSpPr txBox="1"/>
          <p:nvPr/>
        </p:nvSpPr>
        <p:spPr>
          <a:xfrm>
            <a:off x="4749800" y="5232400"/>
            <a:ext cx="6832600" cy="615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zh-CN" altLang="en-US" sz="20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碰撞或满盘：终止</a:t>
            </a:r>
            <a:r>
              <a:rPr lang="en-US" altLang="zh-CN" sz="20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20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达到</a:t>
            </a:r>
            <a:r>
              <a:rPr lang="en-US" altLang="zh-CN" sz="20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500 </a:t>
            </a:r>
            <a:r>
              <a:rPr lang="zh-CN" altLang="en-US" sz="20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步：截断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"/>
          <p:cNvSpPr txBox="1"/>
          <p:nvPr/>
        </p:nvSpPr>
        <p:spPr>
          <a:xfrm>
            <a:off x="609600" y="444500"/>
            <a:ext cx="10972800" cy="4616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zh-CN" altLang="en-US" sz="3000" b="1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状态表示：</a:t>
            </a:r>
            <a:r>
              <a:rPr lang="en-US" altLang="zh-CN" sz="3000" b="1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 </a:t>
            </a:r>
            <a:r>
              <a:rPr lang="zh-CN" altLang="en-US" sz="3000" b="1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维与</a:t>
            </a:r>
            <a:r>
              <a:rPr lang="en-US" altLang="zh-CN" sz="3000" b="1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20 </a:t>
            </a:r>
            <a:r>
              <a:rPr lang="zh-CN" altLang="en-US" sz="3000" b="1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</a:t>
            </a:r>
          </a:p>
        </p:txBody>
      </p:sp>
      <p:sp>
        <p:nvSpPr>
          <p:cNvPr id="3" name="Text_2"/>
          <p:cNvSpPr txBox="1"/>
          <p:nvPr/>
        </p:nvSpPr>
        <p:spPr>
          <a:xfrm>
            <a:off x="609600" y="1168400"/>
            <a:ext cx="109728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V1 </a:t>
            </a:r>
            <a:r>
              <a:rPr lang="zh-CN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提供紧凑基线，</a:t>
            </a:r>
            <a:r>
              <a:rPr lang="en-US" altLang="zh-CN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V2 </a:t>
            </a:r>
            <a:r>
              <a:rPr lang="zh-CN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增加距离与相对局部障碍</a:t>
            </a:r>
          </a:p>
        </p:txBody>
      </p:sp>
      <p:sp>
        <p:nvSpPr>
          <p:cNvPr id="4" name="Text_3"/>
          <p:cNvSpPr txBox="1"/>
          <p:nvPr/>
        </p:nvSpPr>
        <p:spPr>
          <a:xfrm>
            <a:off x="10998200" y="6413500"/>
            <a:ext cx="584200" cy="184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altLang="en-US" sz="12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</a:p>
        </p:txBody>
      </p:sp>
      <p:sp>
        <p:nvSpPr>
          <p:cNvPr id="5" name="Text_4"/>
          <p:cNvSpPr txBox="1"/>
          <p:nvPr/>
        </p:nvSpPr>
        <p:spPr>
          <a:xfrm>
            <a:off x="609600" y="2006600"/>
            <a:ext cx="6350000" cy="430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altLang="en-US" sz="28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V1   11 </a:t>
            </a:r>
            <a:r>
              <a:rPr lang="zh-CN" altLang="en-US" sz="28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</a:t>
            </a:r>
          </a:p>
        </p:txBody>
      </p:sp>
      <p:sp>
        <p:nvSpPr>
          <p:cNvPr id="6" name="Text_5"/>
          <p:cNvSpPr txBox="1"/>
          <p:nvPr/>
        </p:nvSpPr>
        <p:spPr>
          <a:xfrm>
            <a:off x="609600" y="2705100"/>
            <a:ext cx="7112000" cy="3384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zh-CN" altLang="en-US" sz="22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危险</a:t>
            </a:r>
            <a:r>
              <a:rPr lang="en-US" altLang="zh-CN" sz="22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 + </a:t>
            </a:r>
            <a:r>
              <a:rPr lang="zh-CN" altLang="en-US" sz="22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朝向</a:t>
            </a:r>
            <a:r>
              <a:rPr lang="en-US" altLang="zh-CN" sz="22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 + </a:t>
            </a:r>
            <a:r>
              <a:rPr lang="zh-CN" altLang="en-US" sz="22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食物方位</a:t>
            </a:r>
            <a:r>
              <a:rPr lang="en-US" altLang="zh-CN" sz="22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</a:t>
            </a:r>
          </a:p>
        </p:txBody>
      </p:sp>
      <p:sp>
        <p:nvSpPr>
          <p:cNvPr id="7" name="Text_6"/>
          <p:cNvSpPr txBox="1"/>
          <p:nvPr/>
        </p:nvSpPr>
        <p:spPr>
          <a:xfrm>
            <a:off x="609600" y="3695700"/>
            <a:ext cx="7493000" cy="430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altLang="en-US" sz="28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V2   11 + 1 + 8 = 20 </a:t>
            </a:r>
            <a:r>
              <a:rPr lang="zh-CN" altLang="en-US" sz="28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</a:t>
            </a:r>
          </a:p>
        </p:txBody>
      </p:sp>
      <p:sp>
        <p:nvSpPr>
          <p:cNvPr id="8" name="Text_7"/>
          <p:cNvSpPr txBox="1"/>
          <p:nvPr/>
        </p:nvSpPr>
        <p:spPr>
          <a:xfrm>
            <a:off x="609600" y="4419600"/>
            <a:ext cx="7366000" cy="3384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zh-CN" altLang="en-US" sz="22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</a:rPr>
              <a:t>增加归一化食物距离与相对八邻域障碍</a:t>
            </a:r>
          </a:p>
        </p:txBody>
      </p:sp>
      <p:sp>
        <p:nvSpPr>
          <p:cNvPr id="9" name="矩形 8"/>
          <p:cNvSpPr/>
          <p:nvPr/>
        </p:nvSpPr>
        <p:spPr>
          <a:xfrm>
            <a:off x="8686800" y="20828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8953500" y="20828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9220200" y="20828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9486900" y="20828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9753600" y="20828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10020300" y="20828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0287000" y="20828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0553700" y="20828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10820400" y="20828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11087100" y="20828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8686800" y="23495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953500" y="23495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9220200" y="23495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9486900" y="23495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9753600" y="23495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10020300" y="23495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10287000" y="23495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10553700" y="23495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10820400" y="23495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11087100" y="23495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8686800" y="26162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8953500" y="26162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9220200" y="26162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9486900" y="26162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9753600" y="26162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10020300" y="26162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10287000" y="26162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10553700" y="2616200"/>
            <a:ext cx="266700" cy="266700"/>
          </a:xfrm>
          <a:prstGeom prst="rect">
            <a:avLst/>
          </a:prstGeom>
          <a:solidFill>
            <a:srgbClr val="D97568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10820400" y="26162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11087100" y="26162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/>
          <p:cNvSpPr/>
          <p:nvPr/>
        </p:nvSpPr>
        <p:spPr>
          <a:xfrm>
            <a:off x="8686800" y="28829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8953500" y="28829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9220200" y="28829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9486900" y="28829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9753600" y="28829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10020300" y="28829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/>
          <p:cNvSpPr/>
          <p:nvPr/>
        </p:nvSpPr>
        <p:spPr>
          <a:xfrm>
            <a:off x="10287000" y="28829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/>
          <p:cNvSpPr/>
          <p:nvPr/>
        </p:nvSpPr>
        <p:spPr>
          <a:xfrm>
            <a:off x="10553700" y="28829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/>
          <p:cNvSpPr/>
          <p:nvPr/>
        </p:nvSpPr>
        <p:spPr>
          <a:xfrm>
            <a:off x="10820400" y="28829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 47"/>
          <p:cNvSpPr/>
          <p:nvPr/>
        </p:nvSpPr>
        <p:spPr>
          <a:xfrm>
            <a:off x="11087100" y="28829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8686800" y="31496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/>
          <p:cNvSpPr/>
          <p:nvPr/>
        </p:nvSpPr>
        <p:spPr>
          <a:xfrm>
            <a:off x="8953500" y="31496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/>
          <p:cNvSpPr/>
          <p:nvPr/>
        </p:nvSpPr>
        <p:spPr>
          <a:xfrm>
            <a:off x="9220200" y="31496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/>
          <p:cNvSpPr/>
          <p:nvPr/>
        </p:nvSpPr>
        <p:spPr>
          <a:xfrm>
            <a:off x="9486900" y="31496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 52"/>
          <p:cNvSpPr/>
          <p:nvPr/>
        </p:nvSpPr>
        <p:spPr>
          <a:xfrm>
            <a:off x="9753600" y="3149600"/>
            <a:ext cx="266700" cy="266700"/>
          </a:xfrm>
          <a:prstGeom prst="rect">
            <a:avLst/>
          </a:prstGeom>
          <a:solidFill>
            <a:srgbClr val="D5EBE0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10020300" y="3149600"/>
            <a:ext cx="266700" cy="266700"/>
          </a:xfrm>
          <a:prstGeom prst="rect">
            <a:avLst/>
          </a:prstGeom>
          <a:solidFill>
            <a:srgbClr val="D5EBE0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 54"/>
          <p:cNvSpPr/>
          <p:nvPr/>
        </p:nvSpPr>
        <p:spPr>
          <a:xfrm>
            <a:off x="10287000" y="3149600"/>
            <a:ext cx="266700" cy="266700"/>
          </a:xfrm>
          <a:prstGeom prst="rect">
            <a:avLst/>
          </a:prstGeom>
          <a:solidFill>
            <a:srgbClr val="D5EBE0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 55"/>
          <p:cNvSpPr/>
          <p:nvPr/>
        </p:nvSpPr>
        <p:spPr>
          <a:xfrm>
            <a:off x="10553700" y="31496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10820400" y="31496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/>
          <p:cNvSpPr/>
          <p:nvPr/>
        </p:nvSpPr>
        <p:spPr>
          <a:xfrm>
            <a:off x="11087100" y="31496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 58"/>
          <p:cNvSpPr/>
          <p:nvPr/>
        </p:nvSpPr>
        <p:spPr>
          <a:xfrm>
            <a:off x="8686800" y="34163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 59"/>
          <p:cNvSpPr/>
          <p:nvPr/>
        </p:nvSpPr>
        <p:spPr>
          <a:xfrm>
            <a:off x="8953500" y="34163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/>
          <p:cNvSpPr/>
          <p:nvPr/>
        </p:nvSpPr>
        <p:spPr>
          <a:xfrm>
            <a:off x="9220200" y="34163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矩形 61"/>
          <p:cNvSpPr/>
          <p:nvPr/>
        </p:nvSpPr>
        <p:spPr>
          <a:xfrm>
            <a:off x="9486900" y="3416300"/>
            <a:ext cx="266700" cy="266700"/>
          </a:xfrm>
          <a:prstGeom prst="rect">
            <a:avLst/>
          </a:prstGeom>
          <a:solidFill>
            <a:srgbClr val="81B9A2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 62"/>
          <p:cNvSpPr/>
          <p:nvPr/>
        </p:nvSpPr>
        <p:spPr>
          <a:xfrm>
            <a:off x="9753600" y="3416300"/>
            <a:ext cx="266700" cy="266700"/>
          </a:xfrm>
          <a:prstGeom prst="rect">
            <a:avLst/>
          </a:prstGeom>
          <a:solidFill>
            <a:srgbClr val="81B9A2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>
            <a:off x="10020300" y="3416300"/>
            <a:ext cx="266700" cy="266700"/>
          </a:xfrm>
          <a:prstGeom prst="rect">
            <a:avLst/>
          </a:prstGeom>
          <a:solidFill>
            <a:srgbClr val="16856A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/>
          <p:cNvSpPr/>
          <p:nvPr/>
        </p:nvSpPr>
        <p:spPr>
          <a:xfrm>
            <a:off x="10287000" y="3416300"/>
            <a:ext cx="266700" cy="266700"/>
          </a:xfrm>
          <a:prstGeom prst="rect">
            <a:avLst/>
          </a:prstGeom>
          <a:solidFill>
            <a:srgbClr val="D5EBE0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 65"/>
          <p:cNvSpPr/>
          <p:nvPr/>
        </p:nvSpPr>
        <p:spPr>
          <a:xfrm>
            <a:off x="10553700" y="34163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10820400" y="34163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11087100" y="34163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 68"/>
          <p:cNvSpPr/>
          <p:nvPr/>
        </p:nvSpPr>
        <p:spPr>
          <a:xfrm>
            <a:off x="8686800" y="36830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 69"/>
          <p:cNvSpPr/>
          <p:nvPr/>
        </p:nvSpPr>
        <p:spPr>
          <a:xfrm>
            <a:off x="8953500" y="36830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9220200" y="36830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9486900" y="3683000"/>
            <a:ext cx="266700" cy="266700"/>
          </a:xfrm>
          <a:prstGeom prst="rect">
            <a:avLst/>
          </a:prstGeom>
          <a:solidFill>
            <a:srgbClr val="81B9A2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9753600" y="3683000"/>
            <a:ext cx="266700" cy="266700"/>
          </a:xfrm>
          <a:prstGeom prst="rect">
            <a:avLst/>
          </a:prstGeom>
          <a:solidFill>
            <a:srgbClr val="D5EBE0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10020300" y="3683000"/>
            <a:ext cx="266700" cy="266700"/>
          </a:xfrm>
          <a:prstGeom prst="rect">
            <a:avLst/>
          </a:prstGeom>
          <a:solidFill>
            <a:srgbClr val="D5EBE0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10287000" y="3683000"/>
            <a:ext cx="266700" cy="266700"/>
          </a:xfrm>
          <a:prstGeom prst="rect">
            <a:avLst/>
          </a:prstGeom>
          <a:solidFill>
            <a:srgbClr val="D5EBE0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10553700" y="36830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矩形 76"/>
          <p:cNvSpPr/>
          <p:nvPr/>
        </p:nvSpPr>
        <p:spPr>
          <a:xfrm>
            <a:off x="10820400" y="36830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矩形 77"/>
          <p:cNvSpPr/>
          <p:nvPr/>
        </p:nvSpPr>
        <p:spPr>
          <a:xfrm>
            <a:off x="11087100" y="36830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 78"/>
          <p:cNvSpPr/>
          <p:nvPr/>
        </p:nvSpPr>
        <p:spPr>
          <a:xfrm>
            <a:off x="8686800" y="39497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 79"/>
          <p:cNvSpPr/>
          <p:nvPr/>
        </p:nvSpPr>
        <p:spPr>
          <a:xfrm>
            <a:off x="8953500" y="39497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矩形 80"/>
          <p:cNvSpPr/>
          <p:nvPr/>
        </p:nvSpPr>
        <p:spPr>
          <a:xfrm>
            <a:off x="9220200" y="3949700"/>
            <a:ext cx="266700" cy="266700"/>
          </a:xfrm>
          <a:prstGeom prst="rect">
            <a:avLst/>
          </a:prstGeom>
          <a:solidFill>
            <a:srgbClr val="81B9A2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矩形 81"/>
          <p:cNvSpPr/>
          <p:nvPr/>
        </p:nvSpPr>
        <p:spPr>
          <a:xfrm>
            <a:off x="9486900" y="3949700"/>
            <a:ext cx="266700" cy="266700"/>
          </a:xfrm>
          <a:prstGeom prst="rect">
            <a:avLst/>
          </a:prstGeom>
          <a:solidFill>
            <a:srgbClr val="81B9A2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矩形 82"/>
          <p:cNvSpPr/>
          <p:nvPr/>
        </p:nvSpPr>
        <p:spPr>
          <a:xfrm>
            <a:off x="9753600" y="39497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矩形 83"/>
          <p:cNvSpPr/>
          <p:nvPr/>
        </p:nvSpPr>
        <p:spPr>
          <a:xfrm>
            <a:off x="10020300" y="39497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矩形 84"/>
          <p:cNvSpPr/>
          <p:nvPr/>
        </p:nvSpPr>
        <p:spPr>
          <a:xfrm>
            <a:off x="10287000" y="39497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矩形 85"/>
          <p:cNvSpPr/>
          <p:nvPr/>
        </p:nvSpPr>
        <p:spPr>
          <a:xfrm>
            <a:off x="10553700" y="39497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矩形 86"/>
          <p:cNvSpPr/>
          <p:nvPr/>
        </p:nvSpPr>
        <p:spPr>
          <a:xfrm>
            <a:off x="10820400" y="39497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矩形 87"/>
          <p:cNvSpPr/>
          <p:nvPr/>
        </p:nvSpPr>
        <p:spPr>
          <a:xfrm>
            <a:off x="11087100" y="39497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矩形 88"/>
          <p:cNvSpPr/>
          <p:nvPr/>
        </p:nvSpPr>
        <p:spPr>
          <a:xfrm>
            <a:off x="8686800" y="42164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矩形 89"/>
          <p:cNvSpPr/>
          <p:nvPr/>
        </p:nvSpPr>
        <p:spPr>
          <a:xfrm>
            <a:off x="8953500" y="42164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 90"/>
          <p:cNvSpPr/>
          <p:nvPr/>
        </p:nvSpPr>
        <p:spPr>
          <a:xfrm>
            <a:off x="9220200" y="42164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矩形 91"/>
          <p:cNvSpPr/>
          <p:nvPr/>
        </p:nvSpPr>
        <p:spPr>
          <a:xfrm>
            <a:off x="9486900" y="42164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矩形 92"/>
          <p:cNvSpPr/>
          <p:nvPr/>
        </p:nvSpPr>
        <p:spPr>
          <a:xfrm>
            <a:off x="9753600" y="42164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矩形 93"/>
          <p:cNvSpPr/>
          <p:nvPr/>
        </p:nvSpPr>
        <p:spPr>
          <a:xfrm>
            <a:off x="10020300" y="42164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矩形 94"/>
          <p:cNvSpPr/>
          <p:nvPr/>
        </p:nvSpPr>
        <p:spPr>
          <a:xfrm>
            <a:off x="10287000" y="42164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矩形 95"/>
          <p:cNvSpPr/>
          <p:nvPr/>
        </p:nvSpPr>
        <p:spPr>
          <a:xfrm>
            <a:off x="10553700" y="42164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矩形 96"/>
          <p:cNvSpPr/>
          <p:nvPr/>
        </p:nvSpPr>
        <p:spPr>
          <a:xfrm>
            <a:off x="10820400" y="42164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矩形 97"/>
          <p:cNvSpPr/>
          <p:nvPr/>
        </p:nvSpPr>
        <p:spPr>
          <a:xfrm>
            <a:off x="11087100" y="42164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矩形 98"/>
          <p:cNvSpPr/>
          <p:nvPr/>
        </p:nvSpPr>
        <p:spPr>
          <a:xfrm>
            <a:off x="8686800" y="44831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矩形 99"/>
          <p:cNvSpPr/>
          <p:nvPr/>
        </p:nvSpPr>
        <p:spPr>
          <a:xfrm>
            <a:off x="8953500" y="44831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矩形 100"/>
          <p:cNvSpPr/>
          <p:nvPr/>
        </p:nvSpPr>
        <p:spPr>
          <a:xfrm>
            <a:off x="9220200" y="44831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矩形 101"/>
          <p:cNvSpPr/>
          <p:nvPr/>
        </p:nvSpPr>
        <p:spPr>
          <a:xfrm>
            <a:off x="9486900" y="44831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矩形 102"/>
          <p:cNvSpPr/>
          <p:nvPr/>
        </p:nvSpPr>
        <p:spPr>
          <a:xfrm>
            <a:off x="9753600" y="44831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矩形 103"/>
          <p:cNvSpPr/>
          <p:nvPr/>
        </p:nvSpPr>
        <p:spPr>
          <a:xfrm>
            <a:off x="10020300" y="44831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矩形 104"/>
          <p:cNvSpPr/>
          <p:nvPr/>
        </p:nvSpPr>
        <p:spPr>
          <a:xfrm>
            <a:off x="10287000" y="44831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矩形 105"/>
          <p:cNvSpPr/>
          <p:nvPr/>
        </p:nvSpPr>
        <p:spPr>
          <a:xfrm>
            <a:off x="10553700" y="44831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矩形 106"/>
          <p:cNvSpPr/>
          <p:nvPr/>
        </p:nvSpPr>
        <p:spPr>
          <a:xfrm>
            <a:off x="10820400" y="44831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" name="矩形 107"/>
          <p:cNvSpPr/>
          <p:nvPr/>
        </p:nvSpPr>
        <p:spPr>
          <a:xfrm>
            <a:off x="11087100" y="4483100"/>
            <a:ext cx="266700" cy="2667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6E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Text_108"/>
          <p:cNvSpPr txBox="1"/>
          <p:nvPr/>
        </p:nvSpPr>
        <p:spPr>
          <a:xfrm>
            <a:off x="8686800" y="4902200"/>
            <a:ext cx="266700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zh-CN" altLang="en-US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</a:rPr>
              <a:t>环境示意</a:t>
            </a:r>
          </a:p>
        </p:txBody>
      </p:sp>
      <p:sp>
        <p:nvSpPr>
          <p:cNvPr id="110" name="Text_109"/>
          <p:cNvSpPr txBox="1"/>
          <p:nvPr/>
        </p:nvSpPr>
        <p:spPr>
          <a:xfrm>
            <a:off x="609600" y="5715000"/>
            <a:ext cx="10795000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zh-CN" altLang="en-US" sz="20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</a:rPr>
              <a:t>规则一致：允许进入当步腾出的旧尾格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"/>
          <p:cNvSpPr txBox="1"/>
          <p:nvPr/>
        </p:nvSpPr>
        <p:spPr>
          <a:xfrm>
            <a:off x="609600" y="444500"/>
            <a:ext cx="10972800" cy="4616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altLang="en-US" sz="3000" b="1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DQN </a:t>
            </a:r>
            <a:r>
              <a:rPr lang="zh-CN" altLang="en-US" sz="3000" b="1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与统一训练框架</a:t>
            </a:r>
          </a:p>
        </p:txBody>
      </p:sp>
      <p:sp>
        <p:nvSpPr>
          <p:cNvPr id="3" name="Text_2"/>
          <p:cNvSpPr txBox="1"/>
          <p:nvPr/>
        </p:nvSpPr>
        <p:spPr>
          <a:xfrm>
            <a:off x="609600" y="1168400"/>
            <a:ext cx="109728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zh-CN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</a:rPr>
              <a:t>经验回放与目标网络支持价值学习，三种算法共用运行流程</a:t>
            </a:r>
          </a:p>
        </p:txBody>
      </p:sp>
      <p:sp>
        <p:nvSpPr>
          <p:cNvPr id="4" name="Text_3"/>
          <p:cNvSpPr txBox="1"/>
          <p:nvPr/>
        </p:nvSpPr>
        <p:spPr>
          <a:xfrm>
            <a:off x="10998200" y="6413500"/>
            <a:ext cx="584200" cy="184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altLang="en-US" sz="12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</a:p>
        </p:txBody>
      </p:sp>
      <p:sp>
        <p:nvSpPr>
          <p:cNvPr id="5" name="矩形 4"/>
          <p:cNvSpPr/>
          <p:nvPr/>
        </p:nvSpPr>
        <p:spPr>
          <a:xfrm>
            <a:off x="609600" y="2247900"/>
            <a:ext cx="2362200" cy="812800"/>
          </a:xfrm>
          <a:prstGeom prst="rect">
            <a:avLst/>
          </a:prstGeom>
          <a:solidFill>
            <a:srgbClr val="EAF4E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_5"/>
          <p:cNvSpPr txBox="1"/>
          <p:nvPr/>
        </p:nvSpPr>
        <p:spPr>
          <a:xfrm>
            <a:off x="711200" y="2400300"/>
            <a:ext cx="2159000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zh-CN" altLang="en-US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</a:rPr>
              <a:t>环境交互</a:t>
            </a:r>
          </a:p>
        </p:txBody>
      </p:sp>
      <p:sp>
        <p:nvSpPr>
          <p:cNvPr id="7" name="矩形 6"/>
          <p:cNvSpPr/>
          <p:nvPr/>
        </p:nvSpPr>
        <p:spPr>
          <a:xfrm>
            <a:off x="3479800" y="2247900"/>
            <a:ext cx="2362200" cy="812800"/>
          </a:xfrm>
          <a:prstGeom prst="rect">
            <a:avLst/>
          </a:prstGeom>
          <a:solidFill>
            <a:srgbClr val="EAF4E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_7"/>
          <p:cNvSpPr txBox="1"/>
          <p:nvPr/>
        </p:nvSpPr>
        <p:spPr>
          <a:xfrm>
            <a:off x="3581400" y="2400300"/>
            <a:ext cx="2159000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zh-CN" altLang="en-US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</a:rPr>
              <a:t>经验回放</a:t>
            </a:r>
          </a:p>
        </p:txBody>
      </p:sp>
      <p:sp>
        <p:nvSpPr>
          <p:cNvPr id="9" name="矩形 8"/>
          <p:cNvSpPr/>
          <p:nvPr/>
        </p:nvSpPr>
        <p:spPr>
          <a:xfrm>
            <a:off x="6350000" y="2247900"/>
            <a:ext cx="2362200" cy="812800"/>
          </a:xfrm>
          <a:prstGeom prst="rect">
            <a:avLst/>
          </a:prstGeom>
          <a:solidFill>
            <a:srgbClr val="EAF4E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ext_9"/>
          <p:cNvSpPr txBox="1"/>
          <p:nvPr/>
        </p:nvSpPr>
        <p:spPr>
          <a:xfrm>
            <a:off x="6451600" y="2400300"/>
            <a:ext cx="2159000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zh-CN" altLang="en-US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</a:rPr>
              <a:t>采样批次</a:t>
            </a:r>
          </a:p>
        </p:txBody>
      </p:sp>
      <p:sp>
        <p:nvSpPr>
          <p:cNvPr id="11" name="矩形 10"/>
          <p:cNvSpPr/>
          <p:nvPr/>
        </p:nvSpPr>
        <p:spPr>
          <a:xfrm>
            <a:off x="9220200" y="2247900"/>
            <a:ext cx="2362200" cy="812800"/>
          </a:xfrm>
          <a:prstGeom prst="rect">
            <a:avLst/>
          </a:prstGeom>
          <a:solidFill>
            <a:srgbClr val="EAF4E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Text_11"/>
          <p:cNvSpPr txBox="1"/>
          <p:nvPr/>
        </p:nvSpPr>
        <p:spPr>
          <a:xfrm>
            <a:off x="9321800" y="2400300"/>
            <a:ext cx="2159000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altLang="en-US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Online </a:t>
            </a:r>
            <a:r>
              <a:rPr lang="zh-CN" altLang="en-US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</a:t>
            </a:r>
          </a:p>
        </p:txBody>
      </p:sp>
      <p:cxnSp>
        <p:nvCxnSpPr>
          <p:cNvPr id="13" name="直接连接符 12"/>
          <p:cNvCxnSpPr/>
          <p:nvPr/>
        </p:nvCxnSpPr>
        <p:spPr>
          <a:xfrm>
            <a:off x="3073400" y="2654300"/>
            <a:ext cx="279400" cy="635"/>
          </a:xfrm>
          <a:prstGeom prst="line">
            <a:avLst/>
          </a:prstGeom>
          <a:ln w="17780">
            <a:solidFill>
              <a:srgbClr val="16856A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5943600" y="2654300"/>
            <a:ext cx="279400" cy="635"/>
          </a:xfrm>
          <a:prstGeom prst="line">
            <a:avLst/>
          </a:prstGeom>
          <a:ln w="17780">
            <a:solidFill>
              <a:srgbClr val="16856A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8813800" y="2654300"/>
            <a:ext cx="279400" cy="635"/>
          </a:xfrm>
          <a:prstGeom prst="line">
            <a:avLst/>
          </a:prstGeom>
          <a:ln w="17780">
            <a:solidFill>
              <a:srgbClr val="16856A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Text_15"/>
          <p:cNvSpPr txBox="1"/>
          <p:nvPr/>
        </p:nvSpPr>
        <p:spPr>
          <a:xfrm>
            <a:off x="609600" y="3619500"/>
            <a:ext cx="10922000" cy="3689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altLang="en-US" sz="24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Target </a:t>
            </a:r>
            <a:r>
              <a:rPr lang="zh-CN" altLang="en-US" sz="24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网络提供下一状态价值</a:t>
            </a:r>
          </a:p>
        </p:txBody>
      </p:sp>
      <p:sp>
        <p:nvSpPr>
          <p:cNvPr id="17" name="Text_16"/>
          <p:cNvSpPr txBox="1"/>
          <p:nvPr/>
        </p:nvSpPr>
        <p:spPr>
          <a:xfrm>
            <a:off x="609600" y="4381500"/>
            <a:ext cx="10972800" cy="3689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altLang="en-US" sz="24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</a:rPr>
              <a:t>y = r + γ(1 − terminated) max Q_target(s′, a′)</a:t>
            </a:r>
          </a:p>
        </p:txBody>
      </p:sp>
      <p:sp>
        <p:nvSpPr>
          <p:cNvPr id="18" name="Text_17"/>
          <p:cNvSpPr txBox="1"/>
          <p:nvPr/>
        </p:nvSpPr>
        <p:spPr>
          <a:xfrm>
            <a:off x="609600" y="5334000"/>
            <a:ext cx="10972800" cy="6457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altLang="en-US" sz="21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epsilon-greedy </a:t>
            </a:r>
            <a:r>
              <a:rPr lang="zh-CN" altLang="en-US" sz="21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探索；截断仍</a:t>
            </a:r>
            <a:r>
              <a:rPr lang="en-US" altLang="zh-CN" sz="21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bootstrap
</a:t>
            </a:r>
            <a:r>
              <a:rPr lang="zh-CN" altLang="en-US" sz="21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统一训练、评估与模型加载，自动保存配置和日志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"/>
          <p:cNvSpPr txBox="1"/>
          <p:nvPr/>
        </p:nvSpPr>
        <p:spPr>
          <a:xfrm>
            <a:off x="609600" y="444500"/>
            <a:ext cx="10972800" cy="4616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zh-CN" altLang="en-US" sz="3000" b="1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</a:rPr>
              <a:t>统一实验协议</a:t>
            </a:r>
          </a:p>
        </p:txBody>
      </p:sp>
      <p:sp>
        <p:nvSpPr>
          <p:cNvPr id="3" name="Text_2"/>
          <p:cNvSpPr txBox="1"/>
          <p:nvPr/>
        </p:nvSpPr>
        <p:spPr>
          <a:xfrm>
            <a:off x="609600" y="1168400"/>
            <a:ext cx="109728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zh-CN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</a:rPr>
              <a:t>同组只改变研究变量，所有训练种子完整报告</a:t>
            </a:r>
          </a:p>
        </p:txBody>
      </p:sp>
      <p:sp>
        <p:nvSpPr>
          <p:cNvPr id="4" name="Text_3"/>
          <p:cNvSpPr txBox="1"/>
          <p:nvPr/>
        </p:nvSpPr>
        <p:spPr>
          <a:xfrm>
            <a:off x="10998200" y="6413500"/>
            <a:ext cx="584200" cy="184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altLang="en-US" sz="12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</a:p>
        </p:txBody>
      </p:sp>
      <p:graphicFrame>
        <p:nvGraphicFramePr>
          <p:cNvPr id="5" name="表格 4"/>
          <p:cNvGraphicFramePr/>
          <p:nvPr/>
        </p:nvGraphicFramePr>
        <p:xfrm>
          <a:off x="609600" y="1854200"/>
          <a:ext cx="1097280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3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100" b="1">
                          <a:solidFill>
                            <a:srgbClr val="1685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项目</a:t>
                      </a: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100" b="1">
                          <a:solidFill>
                            <a:srgbClr val="1685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设置</a:t>
                      </a: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EA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对照训练</a:t>
                      </a: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每条件</a:t>
                      </a:r>
                      <a:r>
                        <a:rPr lang="en-US" altLang="zh-CN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3 </a:t>
                      </a:r>
                      <a:r>
                        <a:rPr lang="zh-CN" altLang="en-US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个训练种子：</a:t>
                      </a:r>
                      <a:r>
                        <a:rPr lang="en-US" altLang="zh-CN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42</a:t>
                      </a:r>
                      <a:r>
                        <a:rPr lang="zh-CN" altLang="en-US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</a:t>
                      </a:r>
                      <a:r>
                        <a:rPr lang="en-US" altLang="zh-CN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43</a:t>
                      </a:r>
                      <a:r>
                        <a:rPr lang="zh-CN" altLang="en-US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</a:t>
                      </a:r>
                      <a:r>
                        <a:rPr lang="en-US" altLang="zh-CN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44</a:t>
                      </a: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预算</a:t>
                      </a: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每模型</a:t>
                      </a:r>
                      <a:r>
                        <a:rPr lang="en-US" altLang="zh-CN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100,000 </a:t>
                      </a:r>
                      <a:r>
                        <a:rPr lang="zh-CN" altLang="en-US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环境步</a:t>
                      </a: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网络与参数</a:t>
                      </a: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两层各</a:t>
                      </a:r>
                      <a:r>
                        <a:rPr lang="en-US" altLang="zh-CN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128</a:t>
                      </a:r>
                      <a:r>
                        <a:rPr lang="zh-CN" altLang="en-US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；</a:t>
                      </a:r>
                      <a:r>
                        <a:rPr lang="en-US" altLang="zh-CN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γ=0.99</a:t>
                      </a:r>
                      <a:r>
                        <a:rPr lang="zh-CN" altLang="en-US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，学习率</a:t>
                      </a:r>
                      <a:r>
                        <a:rPr lang="en-US" altLang="zh-CN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0.001</a:t>
                      </a: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独立评估</a:t>
                      </a: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每模型</a:t>
                      </a:r>
                      <a:r>
                        <a:rPr lang="en-US" altLang="zh-CN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50 </a:t>
                      </a:r>
                      <a:r>
                        <a:rPr lang="zh-CN" altLang="en-US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局，纯贪心、不更新网络</a:t>
                      </a: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核心指标</a:t>
                      </a: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食物数</a:t>
                      </a:r>
                      <a:r>
                        <a:rPr lang="en-US" altLang="zh-CN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Score</a:t>
                      </a:r>
                      <a:r>
                        <a:rPr lang="zh-CN" altLang="en-US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；跨模型均值与总体</a:t>
                      </a:r>
                      <a:r>
                        <a:rPr lang="en-US" altLang="zh-CN" sz="21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SD</a:t>
                      </a: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_5"/>
          <p:cNvSpPr txBox="1"/>
          <p:nvPr/>
        </p:nvSpPr>
        <p:spPr>
          <a:xfrm>
            <a:off x="609600" y="5918200"/>
            <a:ext cx="10972800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zh-CN" altLang="en-US" sz="2000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</a:rPr>
              <a:t>开发、复核、最终测试使用不同环境种子集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"/>
          <p:cNvSpPr txBox="1"/>
          <p:nvPr/>
        </p:nvSpPr>
        <p:spPr>
          <a:xfrm>
            <a:off x="609600" y="444500"/>
            <a:ext cx="10972800" cy="4616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altLang="en-US" sz="3000" b="1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Double DQN</a:t>
            </a:r>
            <a:r>
              <a:rPr lang="zh-CN" altLang="en-US" sz="3000" b="1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：选择与评价分离</a:t>
            </a:r>
          </a:p>
        </p:txBody>
      </p:sp>
      <p:sp>
        <p:nvSpPr>
          <p:cNvPr id="3" name="Text_2"/>
          <p:cNvSpPr txBox="1"/>
          <p:nvPr/>
        </p:nvSpPr>
        <p:spPr>
          <a:xfrm>
            <a:off x="609600" y="1168400"/>
            <a:ext cx="109728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Online </a:t>
            </a:r>
            <a:r>
              <a:rPr lang="zh-CN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选择动作，</a:t>
            </a:r>
            <a:r>
              <a:rPr lang="en-US" altLang="zh-CN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Target </a:t>
            </a:r>
            <a:r>
              <a:rPr lang="zh-CN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评价该动作</a:t>
            </a:r>
          </a:p>
        </p:txBody>
      </p:sp>
      <p:sp>
        <p:nvSpPr>
          <p:cNvPr id="4" name="Text_3"/>
          <p:cNvSpPr txBox="1"/>
          <p:nvPr/>
        </p:nvSpPr>
        <p:spPr>
          <a:xfrm>
            <a:off x="10998200" y="6413500"/>
            <a:ext cx="584200" cy="184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altLang="en-US" sz="12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</a:p>
        </p:txBody>
      </p:sp>
      <p:sp>
        <p:nvSpPr>
          <p:cNvPr id="5" name="Text_4"/>
          <p:cNvSpPr txBox="1"/>
          <p:nvPr/>
        </p:nvSpPr>
        <p:spPr>
          <a:xfrm>
            <a:off x="609600" y="2146300"/>
            <a:ext cx="1587500" cy="384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altLang="en-US" sz="25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</a:rPr>
              <a:t>DQN</a:t>
            </a:r>
          </a:p>
        </p:txBody>
      </p:sp>
      <p:sp>
        <p:nvSpPr>
          <p:cNvPr id="6" name="矩形 5"/>
          <p:cNvSpPr/>
          <p:nvPr/>
        </p:nvSpPr>
        <p:spPr>
          <a:xfrm>
            <a:off x="2667000" y="2006600"/>
            <a:ext cx="3048000" cy="812800"/>
          </a:xfrm>
          <a:prstGeom prst="rect">
            <a:avLst/>
          </a:prstGeom>
          <a:solidFill>
            <a:srgbClr val="EAF4E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ext_6"/>
          <p:cNvSpPr txBox="1"/>
          <p:nvPr/>
        </p:nvSpPr>
        <p:spPr>
          <a:xfrm>
            <a:off x="2768600" y="2159000"/>
            <a:ext cx="2844800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altLang="en-US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Target </a:t>
            </a:r>
            <a:r>
              <a:rPr lang="zh-CN" altLang="en-US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选最大</a:t>
            </a:r>
          </a:p>
        </p:txBody>
      </p:sp>
      <p:sp>
        <p:nvSpPr>
          <p:cNvPr id="8" name="矩形 7"/>
          <p:cNvSpPr/>
          <p:nvPr/>
        </p:nvSpPr>
        <p:spPr>
          <a:xfrm>
            <a:off x="7315200" y="2006600"/>
            <a:ext cx="3048000" cy="812800"/>
          </a:xfrm>
          <a:prstGeom prst="rect">
            <a:avLst/>
          </a:prstGeom>
          <a:solidFill>
            <a:srgbClr val="EAF4E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_8"/>
          <p:cNvSpPr txBox="1"/>
          <p:nvPr/>
        </p:nvSpPr>
        <p:spPr>
          <a:xfrm>
            <a:off x="7416800" y="2159000"/>
            <a:ext cx="2844800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altLang="en-US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Target </a:t>
            </a:r>
            <a:r>
              <a:rPr lang="zh-CN" altLang="en-US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评价</a:t>
            </a:r>
          </a:p>
        </p:txBody>
      </p:sp>
      <p:cxnSp>
        <p:nvCxnSpPr>
          <p:cNvPr id="10" name="直接连接符 9"/>
          <p:cNvCxnSpPr/>
          <p:nvPr/>
        </p:nvCxnSpPr>
        <p:spPr>
          <a:xfrm>
            <a:off x="5892800" y="2413000"/>
            <a:ext cx="1219200" cy="635"/>
          </a:xfrm>
          <a:prstGeom prst="line">
            <a:avLst/>
          </a:prstGeom>
          <a:ln w="17780">
            <a:solidFill>
              <a:srgbClr val="16856A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Text_10"/>
          <p:cNvSpPr txBox="1"/>
          <p:nvPr/>
        </p:nvSpPr>
        <p:spPr>
          <a:xfrm>
            <a:off x="609600" y="3670300"/>
            <a:ext cx="1905000" cy="384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altLang="en-US" sz="25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</a:rPr>
              <a:t>Double</a:t>
            </a:r>
          </a:p>
        </p:txBody>
      </p:sp>
      <p:sp>
        <p:nvSpPr>
          <p:cNvPr id="12" name="矩形 11"/>
          <p:cNvSpPr/>
          <p:nvPr/>
        </p:nvSpPr>
        <p:spPr>
          <a:xfrm>
            <a:off x="2667000" y="3530600"/>
            <a:ext cx="3048000" cy="812800"/>
          </a:xfrm>
          <a:prstGeom prst="rect">
            <a:avLst/>
          </a:prstGeom>
          <a:solidFill>
            <a:srgbClr val="EAF4E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Text_12"/>
          <p:cNvSpPr txBox="1"/>
          <p:nvPr/>
        </p:nvSpPr>
        <p:spPr>
          <a:xfrm>
            <a:off x="2768600" y="3683000"/>
            <a:ext cx="2844800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altLang="en-US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Online </a:t>
            </a:r>
            <a:r>
              <a:rPr lang="zh-CN" altLang="en-US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选动作</a:t>
            </a:r>
          </a:p>
        </p:txBody>
      </p:sp>
      <p:sp>
        <p:nvSpPr>
          <p:cNvPr id="14" name="矩形 13"/>
          <p:cNvSpPr/>
          <p:nvPr/>
        </p:nvSpPr>
        <p:spPr>
          <a:xfrm>
            <a:off x="7315200" y="3530600"/>
            <a:ext cx="3048000" cy="812800"/>
          </a:xfrm>
          <a:prstGeom prst="rect">
            <a:avLst/>
          </a:prstGeom>
          <a:solidFill>
            <a:srgbClr val="EAF4E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Text_14"/>
          <p:cNvSpPr txBox="1"/>
          <p:nvPr/>
        </p:nvSpPr>
        <p:spPr>
          <a:xfrm>
            <a:off x="7416800" y="3683000"/>
            <a:ext cx="2844800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altLang="en-US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Target </a:t>
            </a:r>
            <a:r>
              <a:rPr lang="zh-CN" altLang="en-US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评价</a:t>
            </a:r>
          </a:p>
        </p:txBody>
      </p:sp>
      <p:cxnSp>
        <p:nvCxnSpPr>
          <p:cNvPr id="16" name="直接连接符 15"/>
          <p:cNvCxnSpPr/>
          <p:nvPr/>
        </p:nvCxnSpPr>
        <p:spPr>
          <a:xfrm>
            <a:off x="5892800" y="3937000"/>
            <a:ext cx="1219200" cy="635"/>
          </a:xfrm>
          <a:prstGeom prst="line">
            <a:avLst/>
          </a:prstGeom>
          <a:ln w="17780">
            <a:solidFill>
              <a:srgbClr val="16856A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Text_16"/>
          <p:cNvSpPr txBox="1"/>
          <p:nvPr/>
        </p:nvSpPr>
        <p:spPr>
          <a:xfrm>
            <a:off x="609600" y="4876800"/>
            <a:ext cx="10972800" cy="384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altLang="en-US" sz="25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</a:rPr>
              <a:t>Q_target(s′, argmax Q_online(s′, a′))</a:t>
            </a:r>
          </a:p>
        </p:txBody>
      </p:sp>
      <p:sp>
        <p:nvSpPr>
          <p:cNvPr id="18" name="Text_17"/>
          <p:cNvSpPr txBox="1"/>
          <p:nvPr/>
        </p:nvSpPr>
        <p:spPr>
          <a:xfrm>
            <a:off x="609600" y="5740400"/>
            <a:ext cx="10972800" cy="3384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zh-CN" altLang="en-US" sz="22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</a:rPr>
              <a:t>只改变目标计算，不增加网络参数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"/>
          <p:cNvSpPr txBox="1"/>
          <p:nvPr/>
        </p:nvSpPr>
        <p:spPr>
          <a:xfrm>
            <a:off x="609600" y="444500"/>
            <a:ext cx="10972800" cy="4616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altLang="en-US" sz="3000" b="1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Dueling DQN</a:t>
            </a:r>
            <a:r>
              <a:rPr lang="zh-CN" altLang="en-US" sz="3000" b="1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：状态价值与动作优势</a:t>
            </a:r>
          </a:p>
        </p:txBody>
      </p:sp>
      <p:sp>
        <p:nvSpPr>
          <p:cNvPr id="3" name="Text_2"/>
          <p:cNvSpPr txBox="1"/>
          <p:nvPr/>
        </p:nvSpPr>
        <p:spPr>
          <a:xfrm>
            <a:off x="609600" y="1168400"/>
            <a:ext cx="109728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zh-CN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共享特征后分别估计</a:t>
            </a:r>
            <a:r>
              <a:rPr lang="en-US" altLang="zh-CN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V </a:t>
            </a:r>
            <a:r>
              <a:rPr lang="zh-CN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</a:t>
            </a:r>
            <a:r>
              <a:rPr lang="zh-CN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，再聚合为三个动作的</a:t>
            </a:r>
            <a:r>
              <a:rPr lang="en-US" altLang="zh-CN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Q </a:t>
            </a:r>
            <a:r>
              <a:rPr lang="zh-CN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值</a:t>
            </a:r>
          </a:p>
        </p:txBody>
      </p:sp>
      <p:sp>
        <p:nvSpPr>
          <p:cNvPr id="4" name="Text_3"/>
          <p:cNvSpPr txBox="1"/>
          <p:nvPr/>
        </p:nvSpPr>
        <p:spPr>
          <a:xfrm>
            <a:off x="10998200" y="6413500"/>
            <a:ext cx="584200" cy="184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altLang="en-US" sz="12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</a:rPr>
              <a:t>07</a:t>
            </a:r>
          </a:p>
        </p:txBody>
      </p:sp>
      <p:sp>
        <p:nvSpPr>
          <p:cNvPr id="5" name="矩形 4"/>
          <p:cNvSpPr/>
          <p:nvPr/>
        </p:nvSpPr>
        <p:spPr>
          <a:xfrm>
            <a:off x="609600" y="2971800"/>
            <a:ext cx="2641600" cy="914400"/>
          </a:xfrm>
          <a:prstGeom prst="rect">
            <a:avLst/>
          </a:prstGeom>
          <a:solidFill>
            <a:srgbClr val="EAF4E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_5"/>
          <p:cNvSpPr txBox="1"/>
          <p:nvPr/>
        </p:nvSpPr>
        <p:spPr>
          <a:xfrm>
            <a:off x="711200" y="3124200"/>
            <a:ext cx="2438400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zh-CN" altLang="en-US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</a:rPr>
              <a:t>共享特征层</a:t>
            </a:r>
          </a:p>
        </p:txBody>
      </p:sp>
      <p:sp>
        <p:nvSpPr>
          <p:cNvPr id="7" name="矩形 6"/>
          <p:cNvSpPr/>
          <p:nvPr/>
        </p:nvSpPr>
        <p:spPr>
          <a:xfrm>
            <a:off x="4749800" y="2032000"/>
            <a:ext cx="2794000" cy="838200"/>
          </a:xfrm>
          <a:prstGeom prst="rect">
            <a:avLst/>
          </a:prstGeom>
          <a:solidFill>
            <a:srgbClr val="EAF4E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_7"/>
          <p:cNvSpPr txBox="1"/>
          <p:nvPr/>
        </p:nvSpPr>
        <p:spPr>
          <a:xfrm>
            <a:off x="4851400" y="2184400"/>
            <a:ext cx="2590800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altLang="en-US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Value</a:t>
            </a:r>
            <a:r>
              <a:rPr lang="zh-CN" altLang="en-US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V(s)</a:t>
            </a:r>
          </a:p>
        </p:txBody>
      </p:sp>
      <p:sp>
        <p:nvSpPr>
          <p:cNvPr id="9" name="矩形 8"/>
          <p:cNvSpPr/>
          <p:nvPr/>
        </p:nvSpPr>
        <p:spPr>
          <a:xfrm>
            <a:off x="4749800" y="4013200"/>
            <a:ext cx="2794000" cy="838200"/>
          </a:xfrm>
          <a:prstGeom prst="rect">
            <a:avLst/>
          </a:prstGeom>
          <a:solidFill>
            <a:srgbClr val="EAF4E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ext_9"/>
          <p:cNvSpPr txBox="1"/>
          <p:nvPr/>
        </p:nvSpPr>
        <p:spPr>
          <a:xfrm>
            <a:off x="4851400" y="4165600"/>
            <a:ext cx="2590800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altLang="en-US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Advantage</a:t>
            </a:r>
            <a:r>
              <a:rPr lang="zh-CN" altLang="en-US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A(s,a)</a:t>
            </a:r>
          </a:p>
        </p:txBody>
      </p:sp>
      <p:sp>
        <p:nvSpPr>
          <p:cNvPr id="11" name="矩形 10"/>
          <p:cNvSpPr/>
          <p:nvPr/>
        </p:nvSpPr>
        <p:spPr>
          <a:xfrm>
            <a:off x="9093200" y="2870200"/>
            <a:ext cx="2489200" cy="1219200"/>
          </a:xfrm>
          <a:prstGeom prst="rect">
            <a:avLst/>
          </a:prstGeom>
          <a:solidFill>
            <a:srgbClr val="EAF4E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Text_11"/>
          <p:cNvSpPr txBox="1"/>
          <p:nvPr/>
        </p:nvSpPr>
        <p:spPr>
          <a:xfrm>
            <a:off x="9194800" y="3022600"/>
            <a:ext cx="2286000" cy="6457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zh-CN" altLang="en-US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聚合</a:t>
            </a:r>
            <a:r>
              <a:rPr lang="en-US" altLang="zh-CN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三个动作</a:t>
            </a:r>
            <a:r>
              <a:rPr lang="en-US" altLang="zh-CN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Q </a:t>
            </a:r>
            <a:r>
              <a:rPr lang="zh-CN" altLang="en-US" sz="21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值</a:t>
            </a:r>
          </a:p>
        </p:txBody>
      </p:sp>
      <p:cxnSp>
        <p:nvCxnSpPr>
          <p:cNvPr id="13" name="直接连接符 12"/>
          <p:cNvCxnSpPr/>
          <p:nvPr/>
        </p:nvCxnSpPr>
        <p:spPr>
          <a:xfrm>
            <a:off x="3251200" y="3429000"/>
            <a:ext cx="762000" cy="635"/>
          </a:xfrm>
          <a:prstGeom prst="line">
            <a:avLst/>
          </a:prstGeom>
          <a:ln w="17780">
            <a:solidFill>
              <a:srgbClr val="16856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4013200" y="2451100"/>
            <a:ext cx="635" cy="1981200"/>
          </a:xfrm>
          <a:prstGeom prst="line">
            <a:avLst/>
          </a:prstGeom>
          <a:ln w="17780">
            <a:solidFill>
              <a:srgbClr val="16856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4013200" y="2451100"/>
            <a:ext cx="584200" cy="635"/>
          </a:xfrm>
          <a:prstGeom prst="line">
            <a:avLst/>
          </a:prstGeom>
          <a:ln w="17780">
            <a:solidFill>
              <a:srgbClr val="16856A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4013200" y="4432300"/>
            <a:ext cx="584200" cy="635"/>
          </a:xfrm>
          <a:prstGeom prst="line">
            <a:avLst/>
          </a:prstGeom>
          <a:ln w="17780">
            <a:solidFill>
              <a:srgbClr val="16856A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7696200" y="2451100"/>
            <a:ext cx="635000" cy="635"/>
          </a:xfrm>
          <a:prstGeom prst="line">
            <a:avLst/>
          </a:prstGeom>
          <a:ln w="17780">
            <a:solidFill>
              <a:srgbClr val="16856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7696200" y="4432300"/>
            <a:ext cx="635000" cy="635"/>
          </a:xfrm>
          <a:prstGeom prst="line">
            <a:avLst/>
          </a:prstGeom>
          <a:ln w="17780">
            <a:solidFill>
              <a:srgbClr val="16856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8331200" y="2451100"/>
            <a:ext cx="635" cy="1981200"/>
          </a:xfrm>
          <a:prstGeom prst="line">
            <a:avLst/>
          </a:prstGeom>
          <a:ln w="17780">
            <a:solidFill>
              <a:srgbClr val="16856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8331200" y="3479800"/>
            <a:ext cx="609600" cy="635"/>
          </a:xfrm>
          <a:prstGeom prst="line">
            <a:avLst/>
          </a:prstGeom>
          <a:ln w="17780">
            <a:solidFill>
              <a:srgbClr val="16856A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Text_20"/>
          <p:cNvSpPr txBox="1"/>
          <p:nvPr/>
        </p:nvSpPr>
        <p:spPr>
          <a:xfrm>
            <a:off x="609600" y="5334000"/>
            <a:ext cx="10972800" cy="384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altLang="en-US" sz="25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</a:rPr>
              <a:t>Q(s,a) = V(s) + A(s,a) − mean A(s,a′)</a:t>
            </a:r>
          </a:p>
        </p:txBody>
      </p:sp>
      <p:sp>
        <p:nvSpPr>
          <p:cNvPr id="22" name="Text_21"/>
          <p:cNvSpPr txBox="1"/>
          <p:nvPr/>
        </p:nvSpPr>
        <p:spPr>
          <a:xfrm>
            <a:off x="609600" y="6045200"/>
            <a:ext cx="10972800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zh-CN" altLang="en-US" sz="20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沿用标准</a:t>
            </a:r>
            <a:r>
              <a:rPr lang="en-US" altLang="zh-CN" sz="20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DQN target</a:t>
            </a:r>
            <a:r>
              <a:rPr lang="zh-CN" altLang="en-US" sz="20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，共享公共训练流程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"/>
          <p:cNvSpPr txBox="1"/>
          <p:nvPr/>
        </p:nvSpPr>
        <p:spPr>
          <a:xfrm>
            <a:off x="609600" y="444500"/>
            <a:ext cx="10972800" cy="4616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altLang="en-US" sz="3000" b="1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V2 </a:t>
            </a:r>
            <a:r>
              <a:rPr lang="zh-CN" altLang="en-US" sz="3000" b="1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每局均分提高约</a:t>
            </a:r>
            <a:r>
              <a:rPr lang="en-US" altLang="zh-CN" sz="3000" b="1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15.72%</a:t>
            </a:r>
          </a:p>
        </p:txBody>
      </p:sp>
      <p:sp>
        <p:nvSpPr>
          <p:cNvPr id="3" name="Text_2"/>
          <p:cNvSpPr txBox="1"/>
          <p:nvPr/>
        </p:nvSpPr>
        <p:spPr>
          <a:xfrm>
            <a:off x="609600" y="1168400"/>
            <a:ext cx="109728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zh-CN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</a:t>
            </a:r>
            <a:r>
              <a:rPr lang="en-US" altLang="zh-CN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DQN + sparse</a:t>
            </a:r>
            <a:r>
              <a:rPr lang="zh-CN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，仅改变状态表示</a:t>
            </a:r>
          </a:p>
        </p:txBody>
      </p:sp>
      <p:sp>
        <p:nvSpPr>
          <p:cNvPr id="4" name="Text_3"/>
          <p:cNvSpPr txBox="1"/>
          <p:nvPr/>
        </p:nvSpPr>
        <p:spPr>
          <a:xfrm>
            <a:off x="10998200" y="6413500"/>
            <a:ext cx="584200" cy="184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altLang="en-US" sz="12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</a:rPr>
              <a:t>08</a:t>
            </a:r>
          </a:p>
        </p:txBody>
      </p:sp>
      <p:graphicFrame>
        <p:nvGraphicFramePr>
          <p:cNvPr id="5" name="EditableChart_8"/>
          <p:cNvGraphicFramePr/>
          <p:nvPr/>
        </p:nvGraphicFramePr>
        <p:xfrm>
          <a:off x="609600" y="1879600"/>
          <a:ext cx="6604000" cy="3860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_5"/>
          <p:cNvSpPr txBox="1"/>
          <p:nvPr/>
        </p:nvSpPr>
        <p:spPr>
          <a:xfrm>
            <a:off x="7975600" y="2311400"/>
            <a:ext cx="3606800" cy="676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altLang="en-US" sz="44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</a:rPr>
              <a:t>+15.72%</a:t>
            </a:r>
          </a:p>
        </p:txBody>
      </p:sp>
      <p:sp>
        <p:nvSpPr>
          <p:cNvPr id="7" name="Text_6"/>
          <p:cNvSpPr txBox="1"/>
          <p:nvPr/>
        </p:nvSpPr>
        <p:spPr>
          <a:xfrm>
            <a:off x="7975600" y="3619500"/>
            <a:ext cx="3606800" cy="738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altLang="en-US" sz="24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V1  19.17 </a:t>
            </a:r>
            <a:r>
              <a:rPr lang="zh-CN" altLang="en-US" sz="24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±</a:t>
            </a:r>
            <a:r>
              <a:rPr lang="en-US" altLang="zh-CN" sz="24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0.56
V2  22.19 </a:t>
            </a:r>
            <a:r>
              <a:rPr lang="zh-CN" altLang="en-US" sz="24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±</a:t>
            </a:r>
            <a:r>
              <a:rPr lang="en-US" altLang="zh-CN" sz="24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0.65</a:t>
            </a:r>
          </a:p>
        </p:txBody>
      </p:sp>
      <p:sp>
        <p:nvSpPr>
          <p:cNvPr id="8" name="Text_7"/>
          <p:cNvSpPr txBox="1"/>
          <p:nvPr/>
        </p:nvSpPr>
        <p:spPr>
          <a:xfrm>
            <a:off x="7975600" y="5041900"/>
            <a:ext cx="3606800" cy="615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zh-CN" altLang="en-US" sz="20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每局得分改善</a:t>
            </a:r>
            <a:r>
              <a:rPr lang="en-US" altLang="zh-CN" sz="20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20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未证明更稳定或寻食更高效</a:t>
            </a:r>
          </a:p>
        </p:txBody>
      </p:sp>
      <p:sp>
        <p:nvSpPr>
          <p:cNvPr id="9" name="Text_8"/>
          <p:cNvSpPr txBox="1"/>
          <p:nvPr/>
        </p:nvSpPr>
        <p:spPr>
          <a:xfrm>
            <a:off x="609600" y="6007100"/>
            <a:ext cx="1079500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zh-CN" altLang="en-US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误差棒：模型评估均分的跨训练种子总体</a:t>
            </a:r>
            <a:r>
              <a:rPr lang="en-US" altLang="zh-CN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SD</a:t>
            </a:r>
            <a:r>
              <a:rPr lang="zh-CN" altLang="en-US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seeds</a:t>
            </a:r>
            <a:r>
              <a:rPr lang="zh-CN" altLang="en-US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ddof=0</a:t>
            </a:r>
            <a:r>
              <a:rPr lang="zh-CN" altLang="en-US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"/>
          <p:cNvSpPr txBox="1"/>
          <p:nvPr/>
        </p:nvSpPr>
        <p:spPr>
          <a:xfrm>
            <a:off x="609600" y="444500"/>
            <a:ext cx="10972800" cy="4616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zh-CN" altLang="en-US" sz="3000" b="1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</a:rPr>
              <a:t>奖励塑形：更密集反馈未提高均分</a:t>
            </a:r>
          </a:p>
        </p:txBody>
      </p:sp>
      <p:sp>
        <p:nvSpPr>
          <p:cNvPr id="3" name="Text_2"/>
          <p:cNvSpPr txBox="1"/>
          <p:nvPr/>
        </p:nvSpPr>
        <p:spPr>
          <a:xfrm>
            <a:off x="609600" y="1168400"/>
            <a:ext cx="109728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zh-CN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</a:t>
            </a:r>
            <a:r>
              <a:rPr lang="en-US" altLang="zh-CN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V2 + DQN</a:t>
            </a:r>
            <a:r>
              <a:rPr lang="zh-CN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，距离系数</a:t>
            </a:r>
            <a:r>
              <a:rPr lang="en-US" altLang="zh-CN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0.1</a:t>
            </a:r>
            <a:r>
              <a:rPr lang="zh-CN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，步惩罚</a:t>
            </a:r>
            <a:r>
              <a:rPr lang="en-US" altLang="zh-CN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0.01</a:t>
            </a:r>
          </a:p>
        </p:txBody>
      </p:sp>
      <p:sp>
        <p:nvSpPr>
          <p:cNvPr id="4" name="Text_3"/>
          <p:cNvSpPr txBox="1"/>
          <p:nvPr/>
        </p:nvSpPr>
        <p:spPr>
          <a:xfrm>
            <a:off x="10998200" y="6413500"/>
            <a:ext cx="584200" cy="184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altLang="en-US" sz="12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</a:rPr>
              <a:t>09</a:t>
            </a:r>
          </a:p>
        </p:txBody>
      </p:sp>
      <p:graphicFrame>
        <p:nvGraphicFramePr>
          <p:cNvPr id="5" name="EditableChart_9"/>
          <p:cNvGraphicFramePr/>
          <p:nvPr/>
        </p:nvGraphicFramePr>
        <p:xfrm>
          <a:off x="609600" y="1879600"/>
          <a:ext cx="6350000" cy="3860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_5"/>
          <p:cNvSpPr txBox="1"/>
          <p:nvPr/>
        </p:nvSpPr>
        <p:spPr>
          <a:xfrm>
            <a:off x="7645400" y="1993900"/>
            <a:ext cx="3937000" cy="3536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altLang="en-US" sz="23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</a:rPr>
              <a:t>sparse</a:t>
            </a:r>
          </a:p>
        </p:txBody>
      </p:sp>
      <p:sp>
        <p:nvSpPr>
          <p:cNvPr id="7" name="Text_6"/>
          <p:cNvSpPr txBox="1"/>
          <p:nvPr/>
        </p:nvSpPr>
        <p:spPr>
          <a:xfrm>
            <a:off x="7645400" y="2451100"/>
            <a:ext cx="3937000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zh-CN" altLang="en-US" sz="20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食物</a:t>
            </a:r>
            <a:r>
              <a:rPr lang="en-US" altLang="zh-CN" sz="20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+10</a:t>
            </a:r>
            <a:r>
              <a:rPr lang="zh-CN" altLang="en-US" sz="20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，死亡</a:t>
            </a:r>
            <a:r>
              <a:rPr lang="en-US" altLang="zh-CN" sz="20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−10</a:t>
            </a:r>
          </a:p>
        </p:txBody>
      </p:sp>
      <p:sp>
        <p:nvSpPr>
          <p:cNvPr id="8" name="Text_7"/>
          <p:cNvSpPr txBox="1"/>
          <p:nvPr/>
        </p:nvSpPr>
        <p:spPr>
          <a:xfrm>
            <a:off x="7645400" y="3149600"/>
            <a:ext cx="3937000" cy="3536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altLang="en-US" sz="23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</a:rPr>
              <a:t>distance</a:t>
            </a:r>
          </a:p>
        </p:txBody>
      </p:sp>
      <p:sp>
        <p:nvSpPr>
          <p:cNvPr id="9" name="Text_8"/>
          <p:cNvSpPr txBox="1"/>
          <p:nvPr/>
        </p:nvSpPr>
        <p:spPr>
          <a:xfrm>
            <a:off x="7645400" y="3606800"/>
            <a:ext cx="3937000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zh-CN" altLang="en-US" sz="20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额外奖励</a:t>
            </a:r>
            <a:r>
              <a:rPr lang="en-US" altLang="zh-CN" sz="20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0.1 </a:t>
            </a:r>
            <a:r>
              <a:rPr lang="zh-CN" altLang="en-US" sz="20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r>
              <a:rPr lang="en-US" altLang="zh-CN" sz="20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距离减少量</a:t>
            </a:r>
          </a:p>
        </p:txBody>
      </p:sp>
      <p:sp>
        <p:nvSpPr>
          <p:cNvPr id="10" name="Text_9"/>
          <p:cNvSpPr txBox="1"/>
          <p:nvPr/>
        </p:nvSpPr>
        <p:spPr>
          <a:xfrm>
            <a:off x="7645400" y="4495800"/>
            <a:ext cx="3937000" cy="3536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altLang="en-US" sz="23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</a:rPr>
              <a:t>distance_step</a:t>
            </a:r>
          </a:p>
        </p:txBody>
      </p:sp>
      <p:sp>
        <p:nvSpPr>
          <p:cNvPr id="11" name="Text_10"/>
          <p:cNvSpPr txBox="1"/>
          <p:nvPr/>
        </p:nvSpPr>
        <p:spPr>
          <a:xfrm>
            <a:off x="7645400" y="4953000"/>
            <a:ext cx="3937000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altLang="en-US" sz="20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distance </a:t>
            </a:r>
            <a:r>
              <a:rPr lang="zh-CN" altLang="en-US" sz="20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每动作再减</a:t>
            </a:r>
            <a:r>
              <a:rPr lang="en-US" altLang="zh-CN" sz="20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0.01</a:t>
            </a:r>
          </a:p>
        </p:txBody>
      </p:sp>
      <p:sp>
        <p:nvSpPr>
          <p:cNvPr id="12" name="Text_11"/>
          <p:cNvSpPr txBox="1"/>
          <p:nvPr/>
        </p:nvSpPr>
        <p:spPr>
          <a:xfrm>
            <a:off x="609600" y="5727700"/>
            <a:ext cx="109728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zh-CN" sz="1600">
                <a:solidFill>
                  <a:srgbClr val="61716A"/>
                </a:solidFill>
                <a:latin typeface="Microsoft YaHei"/>
                <a:ea typeface="Microsoft YaHei"/>
                <a:cs typeface="Microsoft YaHei"/>
              </a:rPr>
              <a:t>误差棒：跨训练种子总体 SD（ddof=0）；三组 SD：0.65 / 0.15 / 0.27</a:t>
            </a:r>
          </a:p>
        </p:txBody>
      </p:sp>
      <p:sp>
        <p:nvSpPr>
          <p:cNvPr id="13" name="Text_12"/>
          <p:cNvSpPr txBox="1"/>
          <p:nvPr/>
        </p:nvSpPr>
        <p:spPr>
          <a:xfrm>
            <a:off x="609600" y="6108700"/>
            <a:ext cx="109728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altLang="en-US" sz="1700">
                <a:solidFill>
                  <a:srgbClr val="D97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Return 216.16 &gt; 211.87</a:t>
            </a:r>
            <a:r>
              <a:rPr lang="zh-CN" altLang="en-US" sz="1700">
                <a:solidFill>
                  <a:srgbClr val="D97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，但食物更少；跨奖励按</a:t>
            </a:r>
            <a:r>
              <a:rPr lang="en-US" altLang="zh-CN" sz="1700">
                <a:solidFill>
                  <a:srgbClr val="D97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Score </a:t>
            </a:r>
            <a:r>
              <a:rPr lang="zh-CN" altLang="en-US" sz="1700">
                <a:solidFill>
                  <a:srgbClr val="D97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"/>
          <p:cNvSpPr txBox="1"/>
          <p:nvPr/>
        </p:nvSpPr>
        <p:spPr>
          <a:xfrm>
            <a:off x="609600" y="444500"/>
            <a:ext cx="10972800" cy="4616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zh-CN" altLang="en-US" sz="3000" b="1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</a:rPr>
              <a:t>默认探索衰减在本次对照中均分最高</a:t>
            </a:r>
          </a:p>
        </p:txBody>
      </p:sp>
      <p:sp>
        <p:nvSpPr>
          <p:cNvPr id="3" name="Text_2"/>
          <p:cNvSpPr txBox="1"/>
          <p:nvPr/>
        </p:nvSpPr>
        <p:spPr>
          <a:xfrm>
            <a:off x="609600" y="1168400"/>
            <a:ext cx="109728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zh-CN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</a:t>
            </a:r>
            <a:r>
              <a:rPr lang="en-US" altLang="zh-CN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DQN + V2 + sparse</a:t>
            </a:r>
            <a:r>
              <a:rPr lang="zh-CN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，仅改变</a:t>
            </a:r>
            <a:r>
              <a:rPr lang="en-US" altLang="zh-CN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epsilon </a:t>
            </a:r>
            <a:r>
              <a:rPr lang="zh-CN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的衰减速度</a:t>
            </a:r>
          </a:p>
        </p:txBody>
      </p:sp>
      <p:sp>
        <p:nvSpPr>
          <p:cNvPr id="4" name="Text_3"/>
          <p:cNvSpPr txBox="1"/>
          <p:nvPr/>
        </p:nvSpPr>
        <p:spPr>
          <a:xfrm>
            <a:off x="10998200" y="6413500"/>
            <a:ext cx="584200" cy="184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altLang="en-US" sz="12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</a:p>
        </p:txBody>
      </p:sp>
      <p:graphicFrame>
        <p:nvGraphicFramePr>
          <p:cNvPr id="5" name="EditableChart_10"/>
          <p:cNvGraphicFramePr/>
          <p:nvPr/>
        </p:nvGraphicFramePr>
        <p:xfrm>
          <a:off x="609600" y="1879600"/>
          <a:ext cx="6350000" cy="3860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_5"/>
          <p:cNvSpPr txBox="1"/>
          <p:nvPr/>
        </p:nvSpPr>
        <p:spPr>
          <a:xfrm>
            <a:off x="7645400" y="2070100"/>
            <a:ext cx="3937000" cy="11537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zh-CN" altLang="en-US" sz="25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快</a:t>
            </a:r>
            <a:r>
              <a:rPr lang="en-US" altLang="zh-CN" sz="25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0.9998
</a:t>
            </a:r>
            <a:r>
              <a:rPr lang="zh-CN" altLang="en-US" sz="25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默认</a:t>
            </a:r>
            <a:r>
              <a:rPr lang="en-US" altLang="zh-CN" sz="25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0.9999
</a:t>
            </a:r>
            <a:r>
              <a:rPr lang="zh-CN" altLang="en-US" sz="25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慢</a:t>
            </a:r>
            <a:r>
              <a:rPr lang="en-US" altLang="zh-CN" sz="25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0.99995</a:t>
            </a:r>
          </a:p>
        </p:txBody>
      </p:sp>
      <p:sp>
        <p:nvSpPr>
          <p:cNvPr id="7" name="Text_6"/>
          <p:cNvSpPr txBox="1"/>
          <p:nvPr/>
        </p:nvSpPr>
        <p:spPr>
          <a:xfrm>
            <a:off x="7645400" y="4267200"/>
            <a:ext cx="3937000" cy="676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altLang="en-US" sz="22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epsilon</a:t>
            </a:r>
            <a:r>
              <a:rPr lang="zh-CN" altLang="en-US" sz="22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22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1.0 → 0.05
</a:t>
            </a:r>
            <a:r>
              <a:rPr lang="zh-CN" altLang="en-US" sz="22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按训练环境步更新</a:t>
            </a:r>
          </a:p>
        </p:txBody>
      </p:sp>
      <p:sp>
        <p:nvSpPr>
          <p:cNvPr id="8" name="Text_7"/>
          <p:cNvSpPr txBox="1"/>
          <p:nvPr/>
        </p:nvSpPr>
        <p:spPr>
          <a:xfrm>
            <a:off x="609600" y="5702300"/>
            <a:ext cx="10972800" cy="3384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zh-CN" altLang="en-US" sz="22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训练得分早升</a:t>
            </a:r>
            <a:r>
              <a:rPr lang="en-US" altLang="zh-CN" sz="22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≠ </a:t>
            </a:r>
            <a:r>
              <a:rPr lang="zh-CN" altLang="en-US" sz="22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最终贪心策略更好</a:t>
            </a:r>
          </a:p>
        </p:txBody>
      </p:sp>
      <p:sp>
        <p:nvSpPr>
          <p:cNvPr id="9" name="Text_8"/>
          <p:cNvSpPr txBox="1"/>
          <p:nvPr/>
        </p:nvSpPr>
        <p:spPr>
          <a:xfrm>
            <a:off x="609600" y="6146800"/>
            <a:ext cx="1097280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altLang="en-US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Score</a:t>
            </a:r>
            <a:r>
              <a:rPr lang="zh-CN" altLang="en-US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21.39 </a:t>
            </a:r>
            <a:r>
              <a:rPr lang="zh-CN" altLang="en-US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±</a:t>
            </a:r>
            <a:r>
              <a:rPr lang="en-US" altLang="zh-CN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0.96 / 22.19 </a:t>
            </a:r>
            <a:r>
              <a:rPr lang="zh-CN" altLang="en-US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±</a:t>
            </a:r>
            <a:r>
              <a:rPr lang="en-US" altLang="zh-CN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0.65 / 19.94 </a:t>
            </a:r>
            <a:r>
              <a:rPr lang="zh-CN" altLang="en-US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±</a:t>
            </a:r>
            <a:r>
              <a:rPr lang="en-US" altLang="zh-CN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0.34</a:t>
            </a:r>
            <a:r>
              <a:rPr lang="zh-CN" altLang="en-US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；误差为跨</a:t>
            </a:r>
            <a:r>
              <a:rPr lang="en-US" altLang="zh-CN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seed </a:t>
            </a:r>
            <a:r>
              <a:rPr lang="zh-CN" altLang="en-US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总体</a:t>
            </a:r>
            <a:r>
              <a:rPr lang="en-US" altLang="zh-CN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"/>
          <p:cNvSpPr txBox="1"/>
          <p:nvPr/>
        </p:nvSpPr>
        <p:spPr>
          <a:xfrm>
            <a:off x="609600" y="444500"/>
            <a:ext cx="10972800" cy="4616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zh-CN" altLang="en-US" sz="3000" b="1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</a:rPr>
              <a:t>综合比较与五种子最终验证</a:t>
            </a:r>
          </a:p>
        </p:txBody>
      </p:sp>
      <p:sp>
        <p:nvSpPr>
          <p:cNvPr id="3" name="Text_2"/>
          <p:cNvSpPr txBox="1"/>
          <p:nvPr/>
        </p:nvSpPr>
        <p:spPr>
          <a:xfrm>
            <a:off x="609600" y="1168400"/>
            <a:ext cx="109728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zh-CN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三算法共同配置：</a:t>
            </a:r>
            <a:r>
              <a:rPr lang="en-US" altLang="zh-CN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V2 + sparse + </a:t>
            </a:r>
            <a:r>
              <a:rPr lang="zh-CN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默认探索</a:t>
            </a:r>
          </a:p>
        </p:txBody>
      </p:sp>
      <p:sp>
        <p:nvSpPr>
          <p:cNvPr id="4" name="Text_3"/>
          <p:cNvSpPr txBox="1"/>
          <p:nvPr/>
        </p:nvSpPr>
        <p:spPr>
          <a:xfrm>
            <a:off x="10998200" y="6413500"/>
            <a:ext cx="584200" cy="184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altLang="en-US" sz="12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</a:rPr>
              <a:t>11</a:t>
            </a:r>
          </a:p>
        </p:txBody>
      </p:sp>
      <p:graphicFrame>
        <p:nvGraphicFramePr>
          <p:cNvPr id="5" name="表格 4"/>
          <p:cNvGraphicFramePr/>
          <p:nvPr/>
        </p:nvGraphicFramePr>
        <p:xfrm>
          <a:off x="609600" y="1765300"/>
          <a:ext cx="10972800" cy="2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b="1">
                          <a:solidFill>
                            <a:srgbClr val="1685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算法</a:t>
                      </a: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b="1">
                          <a:solidFill>
                            <a:srgbClr val="1685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开发均分</a:t>
                      </a:r>
                      <a:r>
                        <a:rPr lang="en-US" altLang="zh-CN" sz="2000" b="1">
                          <a:solidFill>
                            <a:srgbClr val="1685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zh-CN" altLang="en-US" sz="2000" b="1">
                          <a:solidFill>
                            <a:srgbClr val="1685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±</a:t>
                      </a:r>
                      <a:r>
                        <a:rPr lang="en-US" altLang="zh-CN" sz="2000" b="1">
                          <a:solidFill>
                            <a:srgbClr val="1685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SD</a:t>
                      </a: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b="1">
                          <a:solidFill>
                            <a:srgbClr val="1685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新种子复核均分</a:t>
                      </a:r>
                      <a:r>
                        <a:rPr lang="en-US" altLang="zh-CN" sz="2000" b="1">
                          <a:solidFill>
                            <a:srgbClr val="1685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zh-CN" altLang="en-US" sz="2000" b="1">
                          <a:solidFill>
                            <a:srgbClr val="1685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±</a:t>
                      </a:r>
                      <a:r>
                        <a:rPr lang="en-US" altLang="zh-CN" sz="2000" b="1">
                          <a:solidFill>
                            <a:srgbClr val="1685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SD</a:t>
                      </a: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EA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20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DQN</a:t>
                      </a: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20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22.19 </a:t>
                      </a:r>
                      <a:r>
                        <a:rPr lang="zh-CN" altLang="en-US" sz="20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±</a:t>
                      </a:r>
                      <a:r>
                        <a:rPr lang="en-US" altLang="zh-CN" sz="20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0.65</a:t>
                      </a: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20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21.45 </a:t>
                      </a:r>
                      <a:r>
                        <a:rPr lang="zh-CN" altLang="en-US" sz="20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±</a:t>
                      </a:r>
                      <a:r>
                        <a:rPr lang="en-US" altLang="zh-CN" sz="20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1.49</a:t>
                      </a: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20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Double DQN</a:t>
                      </a: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20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19.77 </a:t>
                      </a:r>
                      <a:r>
                        <a:rPr lang="zh-CN" altLang="en-US" sz="20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±</a:t>
                      </a:r>
                      <a:r>
                        <a:rPr lang="en-US" altLang="zh-CN" sz="20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0.74</a:t>
                      </a: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20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19.89 </a:t>
                      </a:r>
                      <a:r>
                        <a:rPr lang="zh-CN" altLang="en-US" sz="20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±</a:t>
                      </a:r>
                      <a:r>
                        <a:rPr lang="en-US" altLang="zh-CN" sz="20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1.01</a:t>
                      </a: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20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Dueling DQN</a:t>
                      </a: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20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21.01 </a:t>
                      </a:r>
                      <a:r>
                        <a:rPr lang="zh-CN" altLang="en-US" sz="20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±</a:t>
                      </a:r>
                      <a:r>
                        <a:rPr lang="en-US" altLang="zh-CN" sz="20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1.01</a:t>
                      </a: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20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20.83 </a:t>
                      </a:r>
                      <a:r>
                        <a:rPr lang="zh-CN" altLang="en-US" sz="20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±</a:t>
                      </a:r>
                      <a:r>
                        <a:rPr lang="en-US" altLang="zh-CN" sz="20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0.86</a:t>
                      </a: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20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Random</a:t>
                      </a: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20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0.04</a:t>
                      </a: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2000" b="0">
                          <a:solidFill>
                            <a:srgbClr val="2535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0.12</a:t>
                      </a:r>
                    </a:p>
                  </a:txBody>
                  <a:tcPr marL="152400" marR="101600" marT="88900" marB="63500" anchor="ctr">
                    <a:lnL w="6350" cmpd="sng">
                      <a:solidFill>
                        <a:srgbClr val="DCE6E0"/>
                      </a:solidFill>
                    </a:lnL>
                    <a:lnR w="6350" cmpd="sng">
                      <a:solidFill>
                        <a:srgbClr val="DCE6E0"/>
                      </a:solidFill>
                    </a:lnR>
                    <a:lnT w="6350" cmpd="sng">
                      <a:solidFill>
                        <a:srgbClr val="DCE6E0"/>
                      </a:solidFill>
                    </a:lnT>
                    <a:lnB w="6350" cmpd="sng">
                      <a:solidFill>
                        <a:srgbClr val="DCE6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_5"/>
          <p:cNvSpPr txBox="1"/>
          <p:nvPr/>
        </p:nvSpPr>
        <p:spPr>
          <a:xfrm>
            <a:off x="609600" y="4584700"/>
            <a:ext cx="10972800" cy="3536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zh-CN" altLang="en-US" sz="23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</a:rPr>
              <a:t>五训练种子最终确认</a:t>
            </a:r>
          </a:p>
        </p:txBody>
      </p:sp>
      <p:sp>
        <p:nvSpPr>
          <p:cNvPr id="7" name="Text_6"/>
          <p:cNvSpPr txBox="1"/>
          <p:nvPr/>
        </p:nvSpPr>
        <p:spPr>
          <a:xfrm>
            <a:off x="609600" y="5257800"/>
            <a:ext cx="1651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zh-CN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</a:rPr>
              <a:t>开发集</a:t>
            </a:r>
          </a:p>
        </p:txBody>
      </p:sp>
      <p:sp>
        <p:nvSpPr>
          <p:cNvPr id="8" name="Text_7"/>
          <p:cNvSpPr txBox="1"/>
          <p:nvPr/>
        </p:nvSpPr>
        <p:spPr>
          <a:xfrm>
            <a:off x="2298700" y="5168900"/>
            <a:ext cx="3365500" cy="4616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altLang="en-US" sz="30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22.60 </a:t>
            </a:r>
            <a:r>
              <a:rPr lang="zh-CN" altLang="en-US" sz="30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±</a:t>
            </a:r>
            <a:r>
              <a:rPr lang="en-US" altLang="zh-CN" sz="30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1.19</a:t>
            </a:r>
          </a:p>
        </p:txBody>
      </p:sp>
      <p:sp>
        <p:nvSpPr>
          <p:cNvPr id="9" name="Text_8"/>
          <p:cNvSpPr txBox="1"/>
          <p:nvPr/>
        </p:nvSpPr>
        <p:spPr>
          <a:xfrm>
            <a:off x="6273800" y="5257800"/>
            <a:ext cx="1905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zh-CN" altLang="en-US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</a:rPr>
              <a:t>最终新测试</a:t>
            </a:r>
          </a:p>
        </p:txBody>
      </p:sp>
      <p:sp>
        <p:nvSpPr>
          <p:cNvPr id="10" name="Text_9"/>
          <p:cNvSpPr txBox="1"/>
          <p:nvPr/>
        </p:nvSpPr>
        <p:spPr>
          <a:xfrm>
            <a:off x="8229600" y="5168900"/>
            <a:ext cx="3352800" cy="4616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altLang="en-US" sz="30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20.76 </a:t>
            </a:r>
            <a:r>
              <a:rPr lang="zh-CN" altLang="en-US" sz="30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±</a:t>
            </a:r>
            <a:r>
              <a:rPr lang="en-US" altLang="zh-CN" sz="30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2.64</a:t>
            </a:r>
          </a:p>
        </p:txBody>
      </p:sp>
      <p:sp>
        <p:nvSpPr>
          <p:cNvPr id="11" name="Text_10"/>
          <p:cNvSpPr txBox="1"/>
          <p:nvPr/>
        </p:nvSpPr>
        <p:spPr>
          <a:xfrm>
            <a:off x="609600" y="5943600"/>
            <a:ext cx="109728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zh-CN" altLang="en-US" sz="17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冻结</a:t>
            </a:r>
            <a:r>
              <a:rPr lang="en-US" altLang="zh-CN" sz="17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DQN + V2 + sparse + 0.9999</a:t>
            </a:r>
            <a:r>
              <a:rPr lang="zh-CN" altLang="en-US" sz="17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；最终</a:t>
            </a:r>
            <a:r>
              <a:rPr lang="en-US" altLang="zh-CN" sz="17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Random = 0.12</a:t>
            </a:r>
          </a:p>
        </p:txBody>
      </p:sp>
      <p:sp>
        <p:nvSpPr>
          <p:cNvPr id="12" name="Text_11"/>
          <p:cNvSpPr txBox="1"/>
          <p:nvPr/>
        </p:nvSpPr>
        <p:spPr>
          <a:xfrm>
            <a:off x="609600" y="6350000"/>
            <a:ext cx="1028700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zh-CN" altLang="en-US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上表</a:t>
            </a:r>
            <a:r>
              <a:rPr lang="en-US" altLang="zh-CN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 seeds</a:t>
            </a:r>
            <a:r>
              <a:rPr lang="zh-CN" altLang="en-US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，下方</a:t>
            </a:r>
            <a:r>
              <a:rPr lang="en-US" altLang="zh-CN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 seeds</a:t>
            </a:r>
            <a:r>
              <a:rPr lang="zh-CN" altLang="en-US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；±</a:t>
            </a:r>
            <a:r>
              <a:rPr lang="en-US" altLang="zh-CN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为跨模型均分总体</a:t>
            </a:r>
            <a:r>
              <a:rPr lang="en-US" altLang="zh-CN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SD</a:t>
            </a:r>
            <a:r>
              <a:rPr lang="zh-CN" altLang="en-US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，两个复核</a:t>
            </a:r>
            <a:r>
              <a:rPr lang="en-US" altLang="zh-CN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6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测试集不同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"/>
          <p:cNvSpPr txBox="1"/>
          <p:nvPr/>
        </p:nvSpPr>
        <p:spPr>
          <a:xfrm>
            <a:off x="609600" y="444500"/>
            <a:ext cx="10972800" cy="4616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zh-CN" altLang="en-US" sz="3000" b="1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</a:rPr>
              <a:t>总结：改进需要实验验证</a:t>
            </a:r>
          </a:p>
        </p:txBody>
      </p:sp>
      <p:sp>
        <p:nvSpPr>
          <p:cNvPr id="3" name="Text_2"/>
          <p:cNvSpPr txBox="1"/>
          <p:nvPr/>
        </p:nvSpPr>
        <p:spPr>
          <a:xfrm>
            <a:off x="10998200" y="6413500"/>
            <a:ext cx="584200" cy="184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altLang="en-US" sz="12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</a:rPr>
              <a:t>12</a:t>
            </a:r>
          </a:p>
        </p:txBody>
      </p:sp>
      <p:sp>
        <p:nvSpPr>
          <p:cNvPr id="4" name="Text_3"/>
          <p:cNvSpPr txBox="1"/>
          <p:nvPr/>
        </p:nvSpPr>
        <p:spPr>
          <a:xfrm>
            <a:off x="609600" y="1765300"/>
            <a:ext cx="10972800" cy="430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zh-CN" altLang="en-US" sz="28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</a:rPr>
              <a:t>统一环境与三种算法</a:t>
            </a:r>
          </a:p>
        </p:txBody>
      </p:sp>
      <p:sp>
        <p:nvSpPr>
          <p:cNvPr id="5" name="Text_4"/>
          <p:cNvSpPr txBox="1"/>
          <p:nvPr/>
        </p:nvSpPr>
        <p:spPr>
          <a:xfrm>
            <a:off x="609600" y="2463800"/>
            <a:ext cx="10972800" cy="3536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zh-CN" altLang="en-US" sz="23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</a:rPr>
              <a:t>状态、奖励、探索对照，交互消融与五种子最终测试</a:t>
            </a:r>
          </a:p>
        </p:txBody>
      </p:sp>
      <p:sp>
        <p:nvSpPr>
          <p:cNvPr id="6" name="Text_5"/>
          <p:cNvSpPr txBox="1"/>
          <p:nvPr/>
        </p:nvSpPr>
        <p:spPr>
          <a:xfrm>
            <a:off x="609600" y="3581400"/>
            <a:ext cx="10972800" cy="430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altLang="en-US" sz="28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V2 </a:t>
            </a:r>
            <a:r>
              <a:rPr lang="zh-CN" altLang="en-US" sz="2800" b="1">
                <a:solidFill>
                  <a:srgbClr val="1685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改善每局得分</a:t>
            </a:r>
          </a:p>
        </p:txBody>
      </p:sp>
      <p:sp>
        <p:nvSpPr>
          <p:cNvPr id="7" name="Text_6"/>
          <p:cNvSpPr txBox="1"/>
          <p:nvPr/>
        </p:nvSpPr>
        <p:spPr>
          <a:xfrm>
            <a:off x="609600" y="4279900"/>
            <a:ext cx="10972800" cy="3536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zh-CN" altLang="en-US" sz="2300">
                <a:solidFill>
                  <a:srgbClr val="25352F"/>
                </a:solidFill>
                <a:latin typeface="微软雅黑" panose="020B0503020204020204" charset="-122"/>
                <a:ea typeface="微软雅黑" panose="020B0503020204020204" charset="-122"/>
              </a:rPr>
              <a:t>密集奖励、探索调整与结构改动均需实际检验</a:t>
            </a:r>
          </a:p>
        </p:txBody>
      </p:sp>
      <p:sp>
        <p:nvSpPr>
          <p:cNvPr id="8" name="Text_7"/>
          <p:cNvSpPr txBox="1"/>
          <p:nvPr/>
        </p:nvSpPr>
        <p:spPr>
          <a:xfrm>
            <a:off x="609600" y="5372100"/>
            <a:ext cx="10972800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zh-CN" altLang="en-US" sz="21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</a:rPr>
              <a:t>局限：种子与预算有限，未证明显著性或普遍最优</a:t>
            </a:r>
          </a:p>
        </p:txBody>
      </p:sp>
      <p:sp>
        <p:nvSpPr>
          <p:cNvPr id="9" name="Text_8"/>
          <p:cNvSpPr txBox="1"/>
          <p:nvPr/>
        </p:nvSpPr>
        <p:spPr>
          <a:xfrm>
            <a:off x="609600" y="6083300"/>
            <a:ext cx="104775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altLang="en-US" sz="17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</a:t>
            </a:r>
            <a:r>
              <a:rPr lang="zh-CN" altLang="en-US" sz="17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环境与</a:t>
            </a:r>
            <a:r>
              <a:rPr lang="en-US" altLang="zh-CN" sz="17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V1    B DQN </a:t>
            </a:r>
            <a:r>
              <a:rPr lang="zh-CN" altLang="en-US" sz="17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与框架</a:t>
            </a:r>
            <a:r>
              <a:rPr lang="en-US" altLang="zh-CN" sz="17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C </a:t>
            </a:r>
            <a:r>
              <a:rPr lang="zh-CN" altLang="en-US" sz="17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改进算法</a:t>
            </a:r>
            <a:r>
              <a:rPr lang="en-US" altLang="zh-CN" sz="17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D V2 </a:t>
            </a:r>
            <a:r>
              <a:rPr lang="zh-CN" altLang="en-US" sz="1700">
                <a:solidFill>
                  <a:srgbClr val="617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与实验分析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3949</Words>
  <Application>Microsoft Office PowerPoint</Application>
  <PresentationFormat>宽屏</PresentationFormat>
  <Paragraphs>142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8" baseType="lpstr">
      <vt:lpstr>微软雅黑</vt:lpstr>
      <vt:lpstr>微软雅黑</vt:lpstr>
      <vt:lpstr>Arial</vt:lpstr>
      <vt:lpstr>Calibri</vt:lpstr>
      <vt:lpstr>Wingdings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Sue Chou</dc:creator>
  <cp:lastModifiedBy>双双 周</cp:lastModifiedBy>
  <cp:revision>158</cp:revision>
  <dcterms:created xsi:type="dcterms:W3CDTF">2019-06-19T02:08:00Z</dcterms:created>
  <dcterms:modified xsi:type="dcterms:W3CDTF">2026-10-19T02:07:37Z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2052-12.1.0.28488</vt:lpwstr>
  </property>
  <property fmtid="{D5CDD505-2E9C-101B-9397-08002B2CF9AE}" pid="3" name="ICV">
    <vt:lpwstr>2AD87D7A2EE84F729E027D54FE44AD58_11</vt:lpwstr>
  </property>
</Properties>
</file>